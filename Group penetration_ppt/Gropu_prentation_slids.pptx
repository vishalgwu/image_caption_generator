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92" r:id="rId2"/>
  </p:sldMasterIdLst>
  <p:notesMasterIdLst>
    <p:notesMasterId r:id="rId24"/>
  </p:notesMasterIdLst>
  <p:sldIdLst>
    <p:sldId id="256" r:id="rId3"/>
    <p:sldId id="257" r:id="rId4"/>
    <p:sldId id="258" r:id="rId5"/>
    <p:sldId id="272" r:id="rId6"/>
    <p:sldId id="259" r:id="rId7"/>
    <p:sldId id="260" r:id="rId8"/>
    <p:sldId id="261" r:id="rId9"/>
    <p:sldId id="275" r:id="rId10"/>
    <p:sldId id="262" r:id="rId11"/>
    <p:sldId id="271" r:id="rId12"/>
    <p:sldId id="274" r:id="rId13"/>
    <p:sldId id="276" r:id="rId14"/>
    <p:sldId id="277" r:id="rId15"/>
    <p:sldId id="263" r:id="rId16"/>
    <p:sldId id="264" r:id="rId17"/>
    <p:sldId id="265" r:id="rId18"/>
    <p:sldId id="270" r:id="rId19"/>
    <p:sldId id="266" r:id="rId20"/>
    <p:sldId id="267" r:id="rId21"/>
    <p:sldId id="268" r:id="rId22"/>
    <p:sldId id="269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A5D"/>
    <a:srgbClr val="0073A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35255"/>
    <p:restoredTop sz="96327"/>
  </p:normalViewPr>
  <p:slideViewPr>
    <p:cSldViewPr snapToGrid="0" snapToObjects="1">
      <p:cViewPr>
        <p:scale>
          <a:sx n="70" d="100"/>
          <a:sy n="70" d="100"/>
        </p:scale>
        <p:origin x="96" y="44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37D03C-9AC5-471A-A556-87C6C92CD58F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9B31D4-5721-4DC2-A292-9821CEBC1A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89805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jp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jp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image" Target="../media/image17.jp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9.jp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image" Target="../media/image20.jp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2.jp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image" Target="../media/image23.jp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Op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close up of a sign&#10;&#10;Description automatically generated">
            <a:extLst>
              <a:ext uri="{FF2B5EF4-FFF2-40B4-BE49-F238E27FC236}">
                <a16:creationId xmlns:a16="http://schemas.microsoft.com/office/drawing/2014/main" id="{A5706C32-4A7F-904A-A159-858BADF285E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Picture 4" descr="A close up of a logo&#10;&#10;Description automatically generated">
            <a:extLst>
              <a:ext uri="{FF2B5EF4-FFF2-40B4-BE49-F238E27FC236}">
                <a16:creationId xmlns:a16="http://schemas.microsoft.com/office/drawing/2014/main" id="{A4A908DD-8A6B-CA4C-A972-B41A7779B82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A close up of a sign&#10;&#10;Description automatically generated">
            <a:extLst>
              <a:ext uri="{FF2B5EF4-FFF2-40B4-BE49-F238E27FC236}">
                <a16:creationId xmlns:a16="http://schemas.microsoft.com/office/drawing/2014/main" id="{B3494C34-0F3D-854E-AFF5-078C6756F1D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A36B4BA9-309F-334E-A8C9-AE868B68468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150704" y="495088"/>
            <a:ext cx="8389575" cy="2441160"/>
          </a:xfrm>
          <a:prstGeom prst="rect">
            <a:avLst/>
          </a:prstGeom>
        </p:spPr>
        <p:txBody>
          <a:bodyPr anchor="t"/>
          <a:lstStyle>
            <a:lvl1pPr algn="l">
              <a:defRPr sz="4000" b="1" cap="none" spc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Arial"/>
                <a:cs typeface="Arial"/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9AC8EBA3-BD00-8C48-ADBA-8DABB356C09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150704" y="3167505"/>
            <a:ext cx="8389575" cy="175260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>
                <a:solidFill>
                  <a:schemeClr val="bg2">
                    <a:lumMod val="90000"/>
                  </a:schemeClr>
                </a:solidFill>
                <a:effectLst>
                  <a:outerShdw blurRad="34925" dist="12700" dir="14400000" rotWithShape="0">
                    <a:prstClr val="black">
                      <a:alpha val="21000"/>
                    </a:prstClr>
                  </a:outerShdw>
                </a:effectLst>
                <a:latin typeface="Arial"/>
                <a:cs typeface="Arial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subtitle</a:t>
            </a:r>
          </a:p>
        </p:txBody>
      </p:sp>
    </p:spTree>
    <p:extLst>
      <p:ext uri="{BB962C8B-B14F-4D97-AF65-F5344CB8AC3E}">
        <p14:creationId xmlns:p14="http://schemas.microsoft.com/office/powerpoint/2010/main" val="4636629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FF488C0E-02BE-5C49-A846-3FF4F3CAA090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838200" y="1825625"/>
            <a:ext cx="10515600" cy="347450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rgbClr val="595959"/>
                </a:solidFill>
                <a:latin typeface="Arial"/>
                <a:cs typeface="Arial"/>
              </a:defRPr>
            </a:lvl1pPr>
            <a:lvl2pPr>
              <a:defRPr>
                <a:latin typeface="Arial"/>
                <a:cs typeface="Arial"/>
              </a:defRPr>
            </a:lvl2pPr>
            <a:lvl3pPr>
              <a:defRPr>
                <a:latin typeface="Arial"/>
                <a:cs typeface="Arial"/>
              </a:defRPr>
            </a:lvl3pPr>
            <a:lvl4pPr>
              <a:defRPr>
                <a:latin typeface="Arial"/>
                <a:cs typeface="Arial"/>
              </a:defRPr>
            </a:lvl4pPr>
            <a:lvl5pPr>
              <a:defRPr>
                <a:latin typeface="Arial"/>
                <a:cs typeface="Arial"/>
              </a:defRPr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5D59335E-859B-EA41-949E-B89FCE73C96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4337" y="715617"/>
            <a:ext cx="10483326" cy="975070"/>
          </a:xfrm>
          <a:prstGeom prst="rect">
            <a:avLst/>
          </a:prstGeom>
        </p:spPr>
        <p:txBody>
          <a:bodyPr anchor="ctr"/>
          <a:lstStyle>
            <a:lvl1pPr algn="l">
              <a:defRPr sz="4000" b="1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cs typeface="Arial"/>
              </a:defRPr>
            </a:lvl1pPr>
          </a:lstStyle>
          <a:p>
            <a:r>
              <a:rPr lang="en-US" dirty="0"/>
              <a:t>Click to edit title</a:t>
            </a:r>
          </a:p>
        </p:txBody>
      </p:sp>
    </p:spTree>
    <p:extLst>
      <p:ext uri="{BB962C8B-B14F-4D97-AF65-F5344CB8AC3E}">
        <p14:creationId xmlns:p14="http://schemas.microsoft.com/office/powerpoint/2010/main" val="36602164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4D6F268F-E515-BE40-8152-BE6D91B530A1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2000">
                <a:solidFill>
                  <a:srgbClr val="595959"/>
                </a:solidFill>
                <a:latin typeface="Arial"/>
                <a:cs typeface="Arial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AFDB4ACE-6BB7-DC43-94AC-F200D98BC3F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24000" y="1599247"/>
            <a:ext cx="9143999" cy="1910716"/>
          </a:xfrm>
          <a:prstGeom prst="rect">
            <a:avLst/>
          </a:prstGeom>
        </p:spPr>
        <p:txBody>
          <a:bodyPr anchor="b"/>
          <a:lstStyle>
            <a:lvl1pPr algn="ctr">
              <a:defRPr sz="5400" b="1" cap="none" baseline="0">
                <a:solidFill>
                  <a:srgbClr val="595959"/>
                </a:solidFill>
                <a:latin typeface="Arial"/>
                <a:cs typeface="Arial"/>
              </a:defRPr>
            </a:lvl1pPr>
          </a:lstStyle>
          <a:p>
            <a:r>
              <a:rPr lang="en-US" dirty="0"/>
              <a:t>Click to title</a:t>
            </a:r>
          </a:p>
        </p:txBody>
      </p:sp>
    </p:spTree>
    <p:extLst>
      <p:ext uri="{BB962C8B-B14F-4D97-AF65-F5344CB8AC3E}">
        <p14:creationId xmlns:p14="http://schemas.microsoft.com/office/powerpoint/2010/main" val="2325266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Are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D19C3F02-B6E3-1744-B80B-6505F54EFB97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38199" y="1825625"/>
            <a:ext cx="5181599" cy="343447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000">
                <a:solidFill>
                  <a:srgbClr val="595959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11" name="Content Placeholder 9">
            <a:extLst>
              <a:ext uri="{FF2B5EF4-FFF2-40B4-BE49-F238E27FC236}">
                <a16:creationId xmlns:a16="http://schemas.microsoft.com/office/drawing/2014/main" id="{77F182C4-AAD3-BF47-93EC-79384E798071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172199" y="1825625"/>
            <a:ext cx="5181599" cy="343447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000">
                <a:solidFill>
                  <a:srgbClr val="595959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6" name="Title 10">
            <a:extLst>
              <a:ext uri="{FF2B5EF4-FFF2-40B4-BE49-F238E27FC236}">
                <a16:creationId xmlns:a16="http://schemas.microsoft.com/office/drawing/2014/main" id="{175FE108-4075-5A45-A4E9-9081D3B6D5C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4337" y="715617"/>
            <a:ext cx="10483326" cy="975070"/>
          </a:xfrm>
          <a:prstGeom prst="rect">
            <a:avLst/>
          </a:prstGeom>
        </p:spPr>
        <p:txBody>
          <a:bodyPr anchor="ctr"/>
          <a:lstStyle>
            <a:lvl1pPr algn="ctr">
              <a:defRPr sz="4000" b="1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cs typeface="Arial"/>
              </a:defRPr>
            </a:lvl1pPr>
          </a:lstStyle>
          <a:p>
            <a:r>
              <a:rPr lang="en-US" dirty="0"/>
              <a:t>Click to edit title</a:t>
            </a:r>
          </a:p>
        </p:txBody>
      </p:sp>
    </p:spTree>
    <p:extLst>
      <p:ext uri="{BB962C8B-B14F-4D97-AF65-F5344CB8AC3E}">
        <p14:creationId xmlns:p14="http://schemas.microsoft.com/office/powerpoint/2010/main" val="2358589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 with Sub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18FCF574-13C1-E34E-9AD4-186822F3CCF8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836612" y="2505075"/>
            <a:ext cx="5176884" cy="276557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rgbClr val="595959"/>
                </a:solidFill>
                <a:latin typeface="Arial"/>
                <a:cs typeface="Arial"/>
              </a:defRPr>
            </a:lvl1pPr>
            <a:lvl2pPr>
              <a:defRPr sz="2000">
                <a:latin typeface="Arial"/>
                <a:cs typeface="Arial"/>
              </a:defRPr>
            </a:lvl2pPr>
            <a:lvl3pPr>
              <a:defRPr sz="2000">
                <a:latin typeface="Arial"/>
                <a:cs typeface="Arial"/>
              </a:defRPr>
            </a:lvl3pPr>
            <a:lvl4pPr>
              <a:defRPr sz="2000">
                <a:latin typeface="Arial"/>
                <a:cs typeface="Arial"/>
              </a:defRPr>
            </a:lvl4pPr>
            <a:lvl5pPr>
              <a:defRPr sz="2000">
                <a:latin typeface="Arial"/>
                <a:cs typeface="Arial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7021BC8C-7BCA-EC46-BE8D-F70B4B6E013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172200" y="1711496"/>
            <a:ext cx="5186362" cy="792436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buNone/>
              <a:defRPr sz="2500" b="1">
                <a:solidFill>
                  <a:srgbClr val="595959"/>
                </a:solidFill>
                <a:latin typeface="Arial"/>
                <a:cs typeface="Arial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14" name="Content Placeholder 5">
            <a:extLst>
              <a:ext uri="{FF2B5EF4-FFF2-40B4-BE49-F238E27FC236}">
                <a16:creationId xmlns:a16="http://schemas.microsoft.com/office/drawing/2014/main" id="{A37FF6C0-6C09-5344-9FBE-132344305788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6178505" y="2505075"/>
            <a:ext cx="5180057" cy="276557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rgbClr val="595959"/>
                </a:solidFill>
                <a:latin typeface="Arial"/>
                <a:cs typeface="Arial"/>
              </a:defRPr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0B8AC4B7-59A8-AE4E-93F4-95E06972F624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836614" y="1712639"/>
            <a:ext cx="5183187" cy="792436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buNone/>
              <a:defRPr sz="2500" b="1">
                <a:solidFill>
                  <a:srgbClr val="595959"/>
                </a:solidFill>
                <a:latin typeface="Arial"/>
                <a:cs typeface="Arial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7" name="Title 10">
            <a:extLst>
              <a:ext uri="{FF2B5EF4-FFF2-40B4-BE49-F238E27FC236}">
                <a16:creationId xmlns:a16="http://schemas.microsoft.com/office/drawing/2014/main" id="{F7B3874A-2DC5-F14B-8126-7334A2094A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4337" y="715617"/>
            <a:ext cx="10483326" cy="975070"/>
          </a:xfrm>
          <a:prstGeom prst="rect">
            <a:avLst/>
          </a:prstGeom>
        </p:spPr>
        <p:txBody>
          <a:bodyPr anchor="ctr"/>
          <a:lstStyle>
            <a:lvl1pPr algn="ctr">
              <a:defRPr sz="4000" b="1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cs typeface="Arial"/>
              </a:defRPr>
            </a:lvl1pPr>
          </a:lstStyle>
          <a:p>
            <a:r>
              <a:rPr lang="en-US" dirty="0"/>
              <a:t>Click to edit title</a:t>
            </a:r>
          </a:p>
        </p:txBody>
      </p:sp>
    </p:spTree>
    <p:extLst>
      <p:ext uri="{BB962C8B-B14F-4D97-AF65-F5344CB8AC3E}">
        <p14:creationId xmlns:p14="http://schemas.microsoft.com/office/powerpoint/2010/main" val="4782389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B2FB655-7025-3744-B125-F9DA8484AC9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7717" y="545091"/>
            <a:ext cx="5393266" cy="4414019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rgbClr val="595959"/>
                </a:solidFill>
                <a:latin typeface="Arial"/>
                <a:cs typeface="Arial"/>
              </a:defRPr>
            </a:lvl1pPr>
            <a:lvl2pPr algn="l">
              <a:defRPr sz="2000">
                <a:latin typeface="Arial"/>
                <a:cs typeface="Arial"/>
              </a:defRPr>
            </a:lvl2pPr>
            <a:lvl3pPr algn="l">
              <a:defRPr sz="2000">
                <a:latin typeface="Arial"/>
                <a:cs typeface="Arial"/>
              </a:defRPr>
            </a:lvl3pPr>
            <a:lvl4pPr algn="l">
              <a:defRPr sz="2000">
                <a:latin typeface="Arial"/>
                <a:cs typeface="Arial"/>
              </a:defRPr>
            </a:lvl4pPr>
            <a:lvl5pPr algn="l">
              <a:defRPr sz="2000">
                <a:latin typeface="Arial"/>
                <a:cs typeface="Arial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013EFB54-EB68-5143-A86E-CA54DCF62C8D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6231467" y="545092"/>
            <a:ext cx="5393266" cy="441401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rgbClr val="595959"/>
                </a:solidFill>
                <a:latin typeface="Arial"/>
                <a:cs typeface="Arial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text</a:t>
            </a:r>
          </a:p>
        </p:txBody>
      </p:sp>
    </p:spTree>
    <p:extLst>
      <p:ext uri="{BB962C8B-B14F-4D97-AF65-F5344CB8AC3E}">
        <p14:creationId xmlns:p14="http://schemas.microsoft.com/office/powerpoint/2010/main" val="18578382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719A1016-F770-EC41-ACBA-A78F094780F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 rot="344365">
            <a:off x="765923" y="687338"/>
            <a:ext cx="10591524" cy="3491307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/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contourClr>
              <a:srgbClr val="969696"/>
            </a:contourClr>
          </a:sp3d>
        </p:spPr>
        <p:txBody>
          <a:bodyPr>
            <a:normAutofit/>
          </a:bodyPr>
          <a:lstStyle>
            <a:lvl1pPr marL="0" indent="0">
              <a:buNone/>
              <a:defRPr sz="2000">
                <a:latin typeface="Arial"/>
                <a:cs typeface="Arial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364AB05B-7E50-5444-9451-E62CF9F94186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688489" y="4486019"/>
            <a:ext cx="10816984" cy="8048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1600" b="0">
                <a:solidFill>
                  <a:srgbClr val="595959"/>
                </a:solidFill>
                <a:latin typeface="Arial"/>
                <a:cs typeface="Arial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text</a:t>
            </a:r>
          </a:p>
        </p:txBody>
      </p:sp>
    </p:spTree>
    <p:extLst>
      <p:ext uri="{BB962C8B-B14F-4D97-AF65-F5344CB8AC3E}">
        <p14:creationId xmlns:p14="http://schemas.microsoft.com/office/powerpoint/2010/main" val="2278333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Slide - Op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water, computer&#10;&#10;Description automatically generated">
            <a:extLst>
              <a:ext uri="{FF2B5EF4-FFF2-40B4-BE49-F238E27FC236}">
                <a16:creationId xmlns:a16="http://schemas.microsoft.com/office/drawing/2014/main" id="{9084CF26-838B-4E40-ACF0-0614B36F1F0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icture 3" descr="A picture containing brick&#10;&#10;Description automatically generated">
            <a:extLst>
              <a:ext uri="{FF2B5EF4-FFF2-40B4-BE49-F238E27FC236}">
                <a16:creationId xmlns:a16="http://schemas.microsoft.com/office/drawing/2014/main" id="{D234C7AA-D40B-5847-86A6-3CD23C13060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Picture 4" descr="A close up of a logo&#10;&#10;Description automatically generated">
            <a:extLst>
              <a:ext uri="{FF2B5EF4-FFF2-40B4-BE49-F238E27FC236}">
                <a16:creationId xmlns:a16="http://schemas.microsoft.com/office/drawing/2014/main" id="{982A509B-433B-8041-8A0B-7C00B943569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59250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Op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bird&#10;&#10;Description automatically generated">
            <a:extLst>
              <a:ext uri="{FF2B5EF4-FFF2-40B4-BE49-F238E27FC236}">
                <a16:creationId xmlns:a16="http://schemas.microsoft.com/office/drawing/2014/main" id="{CC941C59-736C-AA42-A40C-1FD6A9C0F0A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icture 3" descr="A picture containing bird&#10;&#10;Description automatically generated">
            <a:extLst>
              <a:ext uri="{FF2B5EF4-FFF2-40B4-BE49-F238E27FC236}">
                <a16:creationId xmlns:a16="http://schemas.microsoft.com/office/drawing/2014/main" id="{29667154-201A-9841-BEEE-FE4CF6604A6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F4913A5E-91C7-B946-A3C2-20ACDA0D96F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0040" y="1204857"/>
            <a:ext cx="10799595" cy="1910716"/>
          </a:xfrm>
          <a:prstGeom prst="rect">
            <a:avLst/>
          </a:prstGeom>
        </p:spPr>
        <p:txBody>
          <a:bodyPr anchor="b"/>
          <a:lstStyle>
            <a:lvl1pPr algn="ctr">
              <a:defRPr sz="5400" b="1" cap="none" baseline="0">
                <a:solidFill>
                  <a:srgbClr val="FFFFFF"/>
                </a:solidFill>
                <a:latin typeface="Arial"/>
                <a:cs typeface="Arial"/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87E0C233-1CBA-F843-B340-70E8D4D42D4C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99248" y="3324431"/>
            <a:ext cx="10771789" cy="1500187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2000">
                <a:solidFill>
                  <a:srgbClr val="FFFFFF"/>
                </a:solidFill>
                <a:latin typeface="Arial"/>
                <a:cs typeface="Arial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text</a:t>
            </a:r>
          </a:p>
        </p:txBody>
      </p:sp>
    </p:spTree>
    <p:extLst>
      <p:ext uri="{BB962C8B-B14F-4D97-AF65-F5344CB8AC3E}">
        <p14:creationId xmlns:p14="http://schemas.microsoft.com/office/powerpoint/2010/main" val="29799454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Slide - Op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screenshot, bird&#10;&#10;Description automatically generated">
            <a:extLst>
              <a:ext uri="{FF2B5EF4-FFF2-40B4-BE49-F238E27FC236}">
                <a16:creationId xmlns:a16="http://schemas.microsoft.com/office/drawing/2014/main" id="{3EE9051B-EE1E-6E4F-9694-61E46BF3790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B80E6F5C-96D4-2C42-A755-56B3A934362C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3A5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234C2B7B-BC28-FA40-9621-C1B66ACC3A0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57819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Op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lose up of a logo&#10;&#10;Description automatically generated">
            <a:extLst>
              <a:ext uri="{FF2B5EF4-FFF2-40B4-BE49-F238E27FC236}">
                <a16:creationId xmlns:a16="http://schemas.microsoft.com/office/drawing/2014/main" id="{31DE6E88-83B3-4D4F-9E40-6D50AB5E0BE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Picture 4" descr="A picture containing brick, drawing&#10;&#10;Description automatically generated">
            <a:extLst>
              <a:ext uri="{FF2B5EF4-FFF2-40B4-BE49-F238E27FC236}">
                <a16:creationId xmlns:a16="http://schemas.microsoft.com/office/drawing/2014/main" id="{6F5ACEC9-B6BC-BB44-A490-7942ABDCA6C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icture 3" descr="A close up of a logo&#10;&#10;Description automatically generated">
            <a:extLst>
              <a:ext uri="{FF2B5EF4-FFF2-40B4-BE49-F238E27FC236}">
                <a16:creationId xmlns:a16="http://schemas.microsoft.com/office/drawing/2014/main" id="{B17C698C-2970-3943-A340-E6C0C48B0DEB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A36B4BA9-309F-334E-A8C9-AE868B68468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150704" y="495088"/>
            <a:ext cx="8389575" cy="2441160"/>
          </a:xfrm>
          <a:prstGeom prst="rect">
            <a:avLst/>
          </a:prstGeom>
        </p:spPr>
        <p:txBody>
          <a:bodyPr anchor="t"/>
          <a:lstStyle>
            <a:lvl1pPr algn="l">
              <a:defRPr sz="4000" b="1" cap="none" spc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Arial"/>
                <a:cs typeface="Arial"/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9AC8EBA3-BD00-8C48-ADBA-8DABB356C09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150704" y="3167505"/>
            <a:ext cx="8389575" cy="175260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>
                <a:solidFill>
                  <a:schemeClr val="bg2">
                    <a:lumMod val="90000"/>
                  </a:schemeClr>
                </a:solidFill>
                <a:effectLst>
                  <a:outerShdw blurRad="34925" dist="12700" dir="14400000" rotWithShape="0">
                    <a:prstClr val="black">
                      <a:alpha val="21000"/>
                    </a:prstClr>
                  </a:outerShdw>
                </a:effectLst>
                <a:latin typeface="Arial"/>
                <a:cs typeface="Arial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subtitle</a:t>
            </a:r>
          </a:p>
        </p:txBody>
      </p:sp>
    </p:spTree>
    <p:extLst>
      <p:ext uri="{BB962C8B-B14F-4D97-AF65-F5344CB8AC3E}">
        <p14:creationId xmlns:p14="http://schemas.microsoft.com/office/powerpoint/2010/main" val="39179462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FF488C0E-02BE-5C49-A846-3FF4F3CAA090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838200" y="1825625"/>
            <a:ext cx="10515600" cy="347450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rgbClr val="595959"/>
                </a:solidFill>
                <a:latin typeface="Arial"/>
                <a:cs typeface="Arial"/>
              </a:defRPr>
            </a:lvl1pPr>
            <a:lvl2pPr>
              <a:defRPr>
                <a:latin typeface="Arial"/>
                <a:cs typeface="Arial"/>
              </a:defRPr>
            </a:lvl2pPr>
            <a:lvl3pPr>
              <a:defRPr>
                <a:latin typeface="Arial"/>
                <a:cs typeface="Arial"/>
              </a:defRPr>
            </a:lvl3pPr>
            <a:lvl4pPr>
              <a:defRPr>
                <a:latin typeface="Arial"/>
                <a:cs typeface="Arial"/>
              </a:defRPr>
            </a:lvl4pPr>
            <a:lvl5pPr>
              <a:defRPr>
                <a:latin typeface="Arial"/>
                <a:cs typeface="Arial"/>
              </a:defRPr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5D59335E-859B-EA41-949E-B89FCE73C96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4337" y="715617"/>
            <a:ext cx="10483326" cy="975070"/>
          </a:xfrm>
          <a:prstGeom prst="rect">
            <a:avLst/>
          </a:prstGeom>
        </p:spPr>
        <p:txBody>
          <a:bodyPr anchor="ctr"/>
          <a:lstStyle>
            <a:lvl1pPr algn="l">
              <a:defRPr sz="4000" b="1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cs typeface="Arial"/>
              </a:defRPr>
            </a:lvl1pPr>
          </a:lstStyle>
          <a:p>
            <a:r>
              <a:rPr lang="en-US" dirty="0"/>
              <a:t>Click to edit title</a:t>
            </a:r>
          </a:p>
        </p:txBody>
      </p:sp>
    </p:spTree>
    <p:extLst>
      <p:ext uri="{BB962C8B-B14F-4D97-AF65-F5344CB8AC3E}">
        <p14:creationId xmlns:p14="http://schemas.microsoft.com/office/powerpoint/2010/main" val="176264188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4D6F268F-E515-BE40-8152-BE6D91B530A1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2000">
                <a:solidFill>
                  <a:srgbClr val="595959"/>
                </a:solidFill>
                <a:latin typeface="Arial"/>
                <a:cs typeface="Arial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AFDB4ACE-6BB7-DC43-94AC-F200D98BC3F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24000" y="1599247"/>
            <a:ext cx="9143999" cy="1910716"/>
          </a:xfrm>
          <a:prstGeom prst="rect">
            <a:avLst/>
          </a:prstGeom>
        </p:spPr>
        <p:txBody>
          <a:bodyPr anchor="b"/>
          <a:lstStyle>
            <a:lvl1pPr algn="ctr">
              <a:defRPr sz="5400" b="1" cap="none" baseline="0">
                <a:solidFill>
                  <a:srgbClr val="595959"/>
                </a:solidFill>
                <a:latin typeface="Arial"/>
                <a:cs typeface="Arial"/>
              </a:defRPr>
            </a:lvl1pPr>
          </a:lstStyle>
          <a:p>
            <a:r>
              <a:rPr lang="en-US" dirty="0"/>
              <a:t>Click to edit title</a:t>
            </a:r>
          </a:p>
        </p:txBody>
      </p:sp>
    </p:spTree>
    <p:extLst>
      <p:ext uri="{BB962C8B-B14F-4D97-AF65-F5344CB8AC3E}">
        <p14:creationId xmlns:p14="http://schemas.microsoft.com/office/powerpoint/2010/main" val="39138136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Are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D19C3F02-B6E3-1744-B80B-6505F54EFB97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38199" y="1825625"/>
            <a:ext cx="5181599" cy="343447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rgbClr val="595959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11" name="Content Placeholder 9">
            <a:extLst>
              <a:ext uri="{FF2B5EF4-FFF2-40B4-BE49-F238E27FC236}">
                <a16:creationId xmlns:a16="http://schemas.microsoft.com/office/drawing/2014/main" id="{77F182C4-AAD3-BF47-93EC-79384E798071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172199" y="1825625"/>
            <a:ext cx="5181599" cy="343447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rgbClr val="595959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6" name="Title 10">
            <a:extLst>
              <a:ext uri="{FF2B5EF4-FFF2-40B4-BE49-F238E27FC236}">
                <a16:creationId xmlns:a16="http://schemas.microsoft.com/office/drawing/2014/main" id="{175FE108-4075-5A45-A4E9-9081D3B6D5C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4337" y="715617"/>
            <a:ext cx="10483326" cy="975070"/>
          </a:xfrm>
          <a:prstGeom prst="rect">
            <a:avLst/>
          </a:prstGeom>
        </p:spPr>
        <p:txBody>
          <a:bodyPr anchor="ctr"/>
          <a:lstStyle>
            <a:lvl1pPr algn="ctr">
              <a:defRPr sz="4000" b="1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cs typeface="Arial"/>
              </a:defRPr>
            </a:lvl1pPr>
          </a:lstStyle>
          <a:p>
            <a:r>
              <a:rPr lang="en-US" dirty="0"/>
              <a:t>Click to edit title</a:t>
            </a:r>
          </a:p>
        </p:txBody>
      </p:sp>
    </p:spTree>
    <p:extLst>
      <p:ext uri="{BB962C8B-B14F-4D97-AF65-F5344CB8AC3E}">
        <p14:creationId xmlns:p14="http://schemas.microsoft.com/office/powerpoint/2010/main" val="176051892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 with Sub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18FCF574-13C1-E34E-9AD4-186822F3CCF8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836612" y="2505075"/>
            <a:ext cx="5176884" cy="276557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rgbClr val="595959"/>
                </a:solidFill>
                <a:latin typeface="Arial"/>
                <a:cs typeface="Arial"/>
              </a:defRPr>
            </a:lvl1pPr>
            <a:lvl2pPr>
              <a:defRPr sz="2000">
                <a:latin typeface="Arial"/>
                <a:cs typeface="Arial"/>
              </a:defRPr>
            </a:lvl2pPr>
            <a:lvl3pPr>
              <a:defRPr sz="2000">
                <a:latin typeface="Arial"/>
                <a:cs typeface="Arial"/>
              </a:defRPr>
            </a:lvl3pPr>
            <a:lvl4pPr>
              <a:defRPr sz="2000">
                <a:latin typeface="Arial"/>
                <a:cs typeface="Arial"/>
              </a:defRPr>
            </a:lvl4pPr>
            <a:lvl5pPr>
              <a:defRPr sz="2000">
                <a:latin typeface="Arial"/>
                <a:cs typeface="Arial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7021BC8C-7BCA-EC46-BE8D-F70B4B6E013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172200" y="1711496"/>
            <a:ext cx="5186362" cy="792436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buNone/>
              <a:defRPr sz="2500" b="1">
                <a:solidFill>
                  <a:srgbClr val="595959"/>
                </a:solidFill>
                <a:latin typeface="Arial"/>
                <a:cs typeface="Arial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14" name="Content Placeholder 5">
            <a:extLst>
              <a:ext uri="{FF2B5EF4-FFF2-40B4-BE49-F238E27FC236}">
                <a16:creationId xmlns:a16="http://schemas.microsoft.com/office/drawing/2014/main" id="{A37FF6C0-6C09-5344-9FBE-132344305788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6178505" y="2505075"/>
            <a:ext cx="5180057" cy="276557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rgbClr val="595959"/>
                </a:solidFill>
                <a:latin typeface="Arial"/>
                <a:cs typeface="Arial"/>
              </a:defRPr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0B8AC4B7-59A8-AE4E-93F4-95E06972F624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836614" y="1712639"/>
            <a:ext cx="5183187" cy="792436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buNone/>
              <a:defRPr sz="2500" b="1">
                <a:solidFill>
                  <a:srgbClr val="595959"/>
                </a:solidFill>
                <a:latin typeface="Arial"/>
                <a:cs typeface="Arial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7" name="Title 10">
            <a:extLst>
              <a:ext uri="{FF2B5EF4-FFF2-40B4-BE49-F238E27FC236}">
                <a16:creationId xmlns:a16="http://schemas.microsoft.com/office/drawing/2014/main" id="{F7B3874A-2DC5-F14B-8126-7334A2094A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4337" y="715617"/>
            <a:ext cx="10483326" cy="975070"/>
          </a:xfrm>
          <a:prstGeom prst="rect">
            <a:avLst/>
          </a:prstGeom>
        </p:spPr>
        <p:txBody>
          <a:bodyPr anchor="ctr"/>
          <a:lstStyle>
            <a:lvl1pPr algn="ctr">
              <a:defRPr sz="4000" b="1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cs typeface="Arial"/>
              </a:defRPr>
            </a:lvl1pPr>
          </a:lstStyle>
          <a:p>
            <a:r>
              <a:rPr lang="en-US" dirty="0"/>
              <a:t>Click to edit title</a:t>
            </a:r>
          </a:p>
        </p:txBody>
      </p:sp>
    </p:spTree>
    <p:extLst>
      <p:ext uri="{BB962C8B-B14F-4D97-AF65-F5344CB8AC3E}">
        <p14:creationId xmlns:p14="http://schemas.microsoft.com/office/powerpoint/2010/main" val="258446649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B2FB655-7025-3744-B125-F9DA8484AC9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7717" y="545091"/>
            <a:ext cx="5393266" cy="4414019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rgbClr val="595959"/>
                </a:solidFill>
                <a:latin typeface="Arial"/>
                <a:cs typeface="Arial"/>
              </a:defRPr>
            </a:lvl1pPr>
            <a:lvl2pPr algn="l">
              <a:defRPr sz="2000">
                <a:latin typeface="Arial"/>
                <a:cs typeface="Arial"/>
              </a:defRPr>
            </a:lvl2pPr>
            <a:lvl3pPr algn="l">
              <a:defRPr sz="2000">
                <a:latin typeface="Arial"/>
                <a:cs typeface="Arial"/>
              </a:defRPr>
            </a:lvl3pPr>
            <a:lvl4pPr algn="l">
              <a:defRPr sz="2000">
                <a:latin typeface="Arial"/>
                <a:cs typeface="Arial"/>
              </a:defRPr>
            </a:lvl4pPr>
            <a:lvl5pPr algn="l">
              <a:defRPr sz="2000">
                <a:latin typeface="Arial"/>
                <a:cs typeface="Arial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013EFB54-EB68-5143-A86E-CA54DCF62C8D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6231467" y="545092"/>
            <a:ext cx="5393266" cy="441401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rgbClr val="595959"/>
                </a:solidFill>
                <a:latin typeface="Arial"/>
                <a:cs typeface="Arial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text</a:t>
            </a:r>
          </a:p>
        </p:txBody>
      </p:sp>
    </p:spTree>
    <p:extLst>
      <p:ext uri="{BB962C8B-B14F-4D97-AF65-F5344CB8AC3E}">
        <p14:creationId xmlns:p14="http://schemas.microsoft.com/office/powerpoint/2010/main" val="315850164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719A1016-F770-EC41-ACBA-A78F094780F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 rot="344365">
            <a:off x="765923" y="687338"/>
            <a:ext cx="10591524" cy="3491307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/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contourClr>
              <a:srgbClr val="969696"/>
            </a:contourClr>
          </a:sp3d>
        </p:spPr>
        <p:txBody>
          <a:bodyPr>
            <a:normAutofit/>
          </a:bodyPr>
          <a:lstStyle>
            <a:lvl1pPr marL="0" indent="0">
              <a:buNone/>
              <a:defRPr sz="2000">
                <a:latin typeface="Arial"/>
                <a:cs typeface="Arial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364AB05B-7E50-5444-9451-E62CF9F94186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688489" y="4486019"/>
            <a:ext cx="10816984" cy="8048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1600" b="0">
                <a:solidFill>
                  <a:srgbClr val="595959"/>
                </a:solidFill>
                <a:latin typeface="Arial"/>
                <a:cs typeface="Arial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text</a:t>
            </a:r>
          </a:p>
        </p:txBody>
      </p:sp>
    </p:spTree>
    <p:extLst>
      <p:ext uri="{BB962C8B-B14F-4D97-AF65-F5344CB8AC3E}">
        <p14:creationId xmlns:p14="http://schemas.microsoft.com/office/powerpoint/2010/main" val="21601268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Slide - Op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close up of a logo&#10;&#10;Description automatically generated">
            <a:extLst>
              <a:ext uri="{FF2B5EF4-FFF2-40B4-BE49-F238E27FC236}">
                <a16:creationId xmlns:a16="http://schemas.microsoft.com/office/drawing/2014/main" id="{BBE7CF1A-F401-2C48-970E-B029112B61E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A picture containing brick&#10;&#10;Description automatically generated">
            <a:extLst>
              <a:ext uri="{FF2B5EF4-FFF2-40B4-BE49-F238E27FC236}">
                <a16:creationId xmlns:a16="http://schemas.microsoft.com/office/drawing/2014/main" id="{2C349984-7690-2A47-87D3-C0DD158BA11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Picture 4" descr="A close up of a logo&#10;&#10;Description automatically generated">
            <a:extLst>
              <a:ext uri="{FF2B5EF4-FFF2-40B4-BE49-F238E27FC236}">
                <a16:creationId xmlns:a16="http://schemas.microsoft.com/office/drawing/2014/main" id="{9B267380-239A-CC4E-88C8-8F8B114C34D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227219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Op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bird&#10;&#10;Description automatically generated">
            <a:extLst>
              <a:ext uri="{FF2B5EF4-FFF2-40B4-BE49-F238E27FC236}">
                <a16:creationId xmlns:a16="http://schemas.microsoft.com/office/drawing/2014/main" id="{57E5DAEA-9D65-2A41-94A3-D73BF29B06B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A picture containing bird&#10;&#10;Description automatically generated">
            <a:extLst>
              <a:ext uri="{FF2B5EF4-FFF2-40B4-BE49-F238E27FC236}">
                <a16:creationId xmlns:a16="http://schemas.microsoft.com/office/drawing/2014/main" id="{2F1E15CE-4088-7C4E-8064-638CAAE8E14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F4913A5E-91C7-B946-A3C2-20ACDA0D96F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0040" y="1204857"/>
            <a:ext cx="10799595" cy="1910716"/>
          </a:xfrm>
          <a:prstGeom prst="rect">
            <a:avLst/>
          </a:prstGeom>
        </p:spPr>
        <p:txBody>
          <a:bodyPr anchor="b"/>
          <a:lstStyle>
            <a:lvl1pPr algn="ctr">
              <a:defRPr sz="5400" b="1" cap="none" baseline="0">
                <a:solidFill>
                  <a:srgbClr val="FFFFFF"/>
                </a:solidFill>
                <a:latin typeface="Arial"/>
                <a:cs typeface="Arial"/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87E0C233-1CBA-F843-B340-70E8D4D42D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9248" y="3324431"/>
            <a:ext cx="10771789" cy="1500187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2000">
                <a:solidFill>
                  <a:srgbClr val="FFFFFF"/>
                </a:solidFill>
                <a:latin typeface="Arial"/>
                <a:cs typeface="Arial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4575659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Slide - Op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73BBE3F-8531-7640-B2C4-6EB1B05B39F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73A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close up of a logo&#10;&#10;Description automatically generated">
            <a:extLst>
              <a:ext uri="{FF2B5EF4-FFF2-40B4-BE49-F238E27FC236}">
                <a16:creationId xmlns:a16="http://schemas.microsoft.com/office/drawing/2014/main" id="{8F805847-4216-854B-BDC6-6E0F9050F84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39584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3.jp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13" Type="http://schemas.openxmlformats.org/officeDocument/2006/relationships/image" Target="../media/image15.jpg"/><Relationship Id="rId3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7.xml"/><Relationship Id="rId12" Type="http://schemas.openxmlformats.org/officeDocument/2006/relationships/image" Target="../media/image14.jpg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Relationship Id="rId14" Type="http://schemas.openxmlformats.org/officeDocument/2006/relationships/image" Target="../media/image16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picture containing screenshot&#10;&#10;Description automatically generated">
            <a:extLst>
              <a:ext uri="{FF2B5EF4-FFF2-40B4-BE49-F238E27FC236}">
                <a16:creationId xmlns:a16="http://schemas.microsoft.com/office/drawing/2014/main" id="{591C326E-BF68-6445-9231-1C87CA8DE2E8}"/>
              </a:ext>
            </a:extLst>
          </p:cNvPr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Picture 4" descr="A close up of a logo&#10;&#10;Description automatically generated">
            <a:extLst>
              <a:ext uri="{FF2B5EF4-FFF2-40B4-BE49-F238E27FC236}">
                <a16:creationId xmlns:a16="http://schemas.microsoft.com/office/drawing/2014/main" id="{8B88693D-82A9-C941-B148-1250D9B2438F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A close up of a logo&#10;&#10;Description automatically generated">
            <a:extLst>
              <a:ext uri="{FF2B5EF4-FFF2-40B4-BE49-F238E27FC236}">
                <a16:creationId xmlns:a16="http://schemas.microsoft.com/office/drawing/2014/main" id="{AB7CAE5D-7F30-7641-AB6B-1848BE4465C6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826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50" r:id="rId2"/>
    <p:sldLayoutId id="2147483649" r:id="rId3"/>
    <p:sldLayoutId id="2147483652" r:id="rId4"/>
    <p:sldLayoutId id="2147483653" r:id="rId5"/>
    <p:sldLayoutId id="2147483655" r:id="rId6"/>
    <p:sldLayoutId id="2147483654" r:id="rId7"/>
    <p:sldLayoutId id="2147483673" r:id="rId8"/>
    <p:sldLayoutId id="2147483677" r:id="rId9"/>
    <p:sldLayoutId id="2147483691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lose up of a logo&#10;&#10;Description automatically generated">
            <a:extLst>
              <a:ext uri="{FF2B5EF4-FFF2-40B4-BE49-F238E27FC236}">
                <a16:creationId xmlns:a16="http://schemas.microsoft.com/office/drawing/2014/main" id="{2B238D30-2F91-4C40-9D8B-1760377E0BC0}"/>
              </a:ext>
            </a:extLst>
          </p:cNvPr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icture 3" descr="A close up of a logo&#10;&#10;Description automatically generated">
            <a:extLst>
              <a:ext uri="{FF2B5EF4-FFF2-40B4-BE49-F238E27FC236}">
                <a16:creationId xmlns:a16="http://schemas.microsoft.com/office/drawing/2014/main" id="{E4E9D20F-A939-7E47-A0F0-7A4B86BA1543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Picture 4" descr="A close up of a logo&#10;&#10;Description automatically generated">
            <a:extLst>
              <a:ext uri="{FF2B5EF4-FFF2-40B4-BE49-F238E27FC236}">
                <a16:creationId xmlns:a16="http://schemas.microsoft.com/office/drawing/2014/main" id="{6CC15587-0B28-2046-83FF-9F5F7E2581E9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44357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  <p:sldLayoutId id="2147483694" r:id="rId2"/>
    <p:sldLayoutId id="2147483695" r:id="rId3"/>
    <p:sldLayoutId id="2147483696" r:id="rId4"/>
    <p:sldLayoutId id="2147483697" r:id="rId5"/>
    <p:sldLayoutId id="2147483698" r:id="rId6"/>
    <p:sldLayoutId id="2147483699" r:id="rId7"/>
    <p:sldLayoutId id="2147483701" r:id="rId8"/>
    <p:sldLayoutId id="2147483703" r:id="rId9"/>
    <p:sldLayoutId id="2147483702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kaggle.com/datasets/hiteshsuthar101/myntra-fashion-product-dataset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8437BA-2E84-3549-8B00-4D6E2E7C80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"/>
            <a:ext cx="12192000" cy="6747640"/>
          </a:xfrm>
        </p:spPr>
        <p:txBody>
          <a:bodyPr/>
          <a:lstStyle/>
          <a:p>
            <a:pPr algn="ctr"/>
            <a:br>
              <a:rPr lang="en-IN" dirty="0">
                <a:effectLst/>
              </a:rPr>
            </a:br>
            <a:br>
              <a:rPr lang="en-IN" dirty="0">
                <a:effectLst/>
              </a:rPr>
            </a:br>
            <a:br>
              <a:rPr lang="en-IN" dirty="0">
                <a:effectLst/>
              </a:rPr>
            </a:br>
            <a:br>
              <a:rPr lang="en-IN" dirty="0">
                <a:effectLst/>
              </a:rPr>
            </a:br>
            <a:r>
              <a:rPr lang="en-IN" dirty="0">
                <a:effectLst/>
              </a:rPr>
              <a:t>AUTOMATED FASHION IMAGE </a:t>
            </a:r>
            <a:br>
              <a:rPr lang="en-IN" dirty="0">
                <a:effectLst/>
              </a:rPr>
            </a:br>
            <a:r>
              <a:rPr lang="en-IN" dirty="0">
                <a:effectLst/>
              </a:rPr>
              <a:t>CAPTIONING SYSTEM</a:t>
            </a:r>
            <a:br>
              <a:rPr lang="en-IN" dirty="0">
                <a:effectLst/>
              </a:rPr>
            </a:br>
            <a:br>
              <a:rPr lang="en-IN" dirty="0">
                <a:effectLst/>
              </a:rPr>
            </a:br>
            <a:r>
              <a:rPr lang="en-IN" sz="24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Guided By:</a:t>
            </a:r>
            <a:br>
              <a:rPr lang="en-IN" sz="24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Professor Aamir Jafari</a:t>
            </a:r>
            <a:br>
              <a:rPr lang="en-IN" sz="24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24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Group 6:</a:t>
            </a:r>
            <a:br>
              <a:rPr lang="en-IN" sz="24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Amrutha Jayachandradhara</a:t>
            </a:r>
            <a:br>
              <a:rPr lang="en-IN" sz="24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Vishal </a:t>
            </a:r>
            <a:r>
              <a:rPr lang="en-IN" sz="2400" b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Fulsundar</a:t>
            </a:r>
            <a:br>
              <a:rPr lang="en-IN" dirty="0">
                <a:effectLst/>
              </a:rPr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62618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850E5A-4F42-5137-A06E-61BD3ECB590F}"/>
              </a:ext>
            </a:extLst>
          </p:cNvPr>
          <p:cNvSpPr>
            <a:spLocks noGrp="1" noChangeArrowheads="1"/>
          </p:cNvSpPr>
          <p:nvPr>
            <p:ph idx="13"/>
          </p:nvPr>
        </p:nvSpPr>
        <p:spPr bwMode="auto">
          <a:xfrm>
            <a:off x="750176" y="1127922"/>
            <a:ext cx="10691648" cy="4247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Challenge:</a:t>
            </a:r>
          </a:p>
          <a:p>
            <a:pPr marL="1028700" lvl="1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E-commerce platforms possess vast inventories where manual tagging is labor-intensive and error-prone.</a:t>
            </a:r>
          </a:p>
          <a:p>
            <a:pPr marL="1028700" lvl="1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Accurate captions are essential for SEO, user experience, expensive and slow. and accessibility.</a:t>
            </a:r>
          </a:p>
          <a:p>
            <a:pPr marL="1028700" lvl="1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Sometimes copied or extremely generic → “Blue printed shirt for men” instead of “Men’s slim-fit blue printed cotton shirt, casual wear”.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Project Goal: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028700" lvl="1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Build and analyze an explainable image-and-metadata-based captioning system for fashion products, and compare it to a large vision-language model</a:t>
            </a:r>
          </a:p>
          <a:p>
            <a:pPr marL="1028700" lvl="1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Train models to generate coherent text descriptions (captions) given an input image.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6286455-BE5D-FBA2-82D3-64C691533F72}"/>
              </a:ext>
            </a:extLst>
          </p:cNvPr>
          <p:cNvSpPr txBox="1"/>
          <p:nvPr/>
        </p:nvSpPr>
        <p:spPr>
          <a:xfrm>
            <a:off x="750176" y="68549"/>
            <a:ext cx="10519804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&amp; Objectives</a:t>
            </a:r>
            <a:br>
              <a:rPr lang="en-US" altLang="en-US" sz="40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4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49162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32B4149-E225-19FC-29FD-C3587BE6DD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211" y="165617"/>
            <a:ext cx="10483326" cy="975070"/>
          </a:xfrm>
        </p:spPr>
        <p:txBody>
          <a:bodyPr/>
          <a:lstStyle/>
          <a:p>
            <a:r>
              <a:rPr lang="en-US" altLang="en-US" dirty="0">
                <a:solidFill>
                  <a:srgbClr val="000000"/>
                </a:solidFill>
                <a:latin typeface="Arial" panose="020B0604020202020204" pitchFamily="34" charset="0"/>
              </a:rPr>
              <a:t>Dataset Overview</a:t>
            </a:r>
            <a:r>
              <a:rPr lang="en-IN" b="0" dirty="0"/>
              <a:t> </a:t>
            </a:r>
            <a:br>
              <a:rPr lang="en-US" altLang="en-US" dirty="0">
                <a:solidFill>
                  <a:srgbClr val="000000"/>
                </a:solidFill>
                <a:latin typeface="Arial" panose="020B0604020202020204" pitchFamily="34" charset="0"/>
              </a:rPr>
            </a:br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7C76320-D525-A820-E301-2C5430602BE3}"/>
              </a:ext>
            </a:extLst>
          </p:cNvPr>
          <p:cNvSpPr>
            <a:spLocks noGrp="1" noChangeArrowheads="1"/>
          </p:cNvSpPr>
          <p:nvPr>
            <p:ph idx="13"/>
          </p:nvPr>
        </p:nvSpPr>
        <p:spPr bwMode="auto">
          <a:xfrm>
            <a:off x="758802" y="253043"/>
            <a:ext cx="11190518" cy="56938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Structure: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A multimodal collection combining structured tabular data with visual assets.</a:t>
            </a:r>
            <a:endParaRPr lang="en-US" altLang="en-US" sz="24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Sources: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https://www.kaggle.com/datasets/hiteshsuthar101/myntra-fashion-product-dataset</a:t>
            </a:r>
            <a:endParaRPr lang="en-US" altLang="en-US" sz="24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Metadata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Sourced from styles.csv, focusing on product attributes like product DisplayName.</a:t>
            </a:r>
          </a:p>
          <a:p>
            <a:pPr marL="1371600" lvl="3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id: 10002</a:t>
            </a:r>
          </a:p>
          <a:p>
            <a:pPr marL="1371600" lvl="3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gender: Women</a:t>
            </a:r>
          </a:p>
          <a:p>
            <a:pPr marL="1371600" lvl="3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6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masterCategory</a:t>
            </a:r>
            <a:r>
              <a:rPr lang="en-US" alt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Apparel	</a:t>
            </a:r>
          </a:p>
          <a:p>
            <a:pPr marL="1371600" lvl="3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6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subCategory</a:t>
            </a:r>
            <a:r>
              <a:rPr lang="en-US" alt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Dress</a:t>
            </a:r>
          </a:p>
          <a:p>
            <a:pPr marL="1371600" lvl="3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6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articleType</a:t>
            </a:r>
            <a:r>
              <a:rPr lang="en-US" alt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Sleeveless Dress</a:t>
            </a:r>
          </a:p>
          <a:p>
            <a:pPr marL="1371600" lvl="3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6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baseColour</a:t>
            </a:r>
            <a:r>
              <a:rPr lang="en-US" alt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Red  </a:t>
            </a:r>
          </a:p>
          <a:p>
            <a:pPr marL="1371600" lvl="3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year: 2012</a:t>
            </a:r>
          </a:p>
          <a:p>
            <a:pPr marL="1371600" lvl="3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season: Summer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7082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F65FB4F-B59F-3A52-FF72-A2D9681F8485}"/>
              </a:ext>
            </a:extLst>
          </p:cNvPr>
          <p:cNvSpPr txBox="1"/>
          <p:nvPr/>
        </p:nvSpPr>
        <p:spPr>
          <a:xfrm>
            <a:off x="1053581" y="545953"/>
            <a:ext cx="9052586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Imagery: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Local directory of images (.jpg, .jpeg, .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Total 14.5 Images we have from the Myntra Fashion Product dataset. 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Images provide VISUAL grounding Color, Shape, Texture, Clothing type, Visual cues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Our dataset consists of product images and structured catalog metadata originally derived from the Myntra fashion dataset.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Each product has a unique image and metadata fields like gender, category, subcategory, and product name.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2">
            <a:extLst>
              <a:ext uri="{FF2B5EF4-FFF2-40B4-BE49-F238E27FC236}">
                <a16:creationId xmlns:a16="http://schemas.microsoft.com/office/drawing/2014/main" id="{74FC2D4A-D84B-68ED-1FF2-0047505E2A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5093" y="56436"/>
            <a:ext cx="10483326" cy="975070"/>
          </a:xfrm>
        </p:spPr>
        <p:txBody>
          <a:bodyPr/>
          <a:lstStyle/>
          <a:p>
            <a:r>
              <a:rPr lang="en-US" altLang="en-US" dirty="0">
                <a:solidFill>
                  <a:srgbClr val="000000"/>
                </a:solidFill>
                <a:latin typeface="Arial" panose="020B0604020202020204" pitchFamily="34" charset="0"/>
              </a:rPr>
              <a:t>Dataset Overview</a:t>
            </a:r>
            <a:r>
              <a:rPr lang="en-IN" b="0" dirty="0"/>
              <a:t> </a:t>
            </a:r>
            <a:br>
              <a:rPr lang="en-US" altLang="en-US" dirty="0">
                <a:solidFill>
                  <a:srgbClr val="000000"/>
                </a:solidFill>
                <a:latin typeface="Arial" panose="020B0604020202020204" pitchFamily="34" charset="0"/>
              </a:rPr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10984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C4C47E2-61E0-9F5B-D2A4-01AE236219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415" y="0"/>
            <a:ext cx="10483326" cy="975070"/>
          </a:xfrm>
        </p:spPr>
        <p:txBody>
          <a:bodyPr/>
          <a:lstStyle/>
          <a:p>
            <a:r>
              <a:rPr lang="en-IN" dirty="0">
                <a:solidFill>
                  <a:schemeClr val="tx1"/>
                </a:solidFill>
              </a:rPr>
              <a:t>Data Processing Pipeline (ETL)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D97E7BE-A895-6F43-7A9A-5377A2139DAA}"/>
              </a:ext>
            </a:extLst>
          </p:cNvPr>
          <p:cNvSpPr>
            <a:spLocks noGrp="1" noChangeArrowheads="1"/>
          </p:cNvSpPr>
          <p:nvPr>
            <p:ph idx="13"/>
          </p:nvPr>
        </p:nvSpPr>
        <p:spPr bwMode="auto">
          <a:xfrm>
            <a:off x="131006" y="932722"/>
            <a:ext cx="10708341" cy="51398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Ingestion &amp; Cleaning:</a:t>
            </a:r>
            <a:endParaRPr lang="en-US" altLang="en-US" sz="24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028700" lvl="1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Load the raw metadata from CSV </a:t>
            </a:r>
          </a:p>
          <a:p>
            <a:pPr marL="1028700" lvl="1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Standardize column names</a:t>
            </a:r>
          </a:p>
          <a:p>
            <a:pPr marL="1028700" lvl="1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Remove rows with missing or corrupted fields</a:t>
            </a:r>
          </a:p>
          <a:p>
            <a:pPr marL="1028700" lvl="1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Filter irrelevant categories (if needed) </a:t>
            </a:r>
          </a:p>
          <a:p>
            <a:pPr marL="1028700" lvl="1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Normalize text (lowercase, strip </a:t>
            </a:r>
            <a:r>
              <a:rPr lang="en-US" altLang="en-US" sz="2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spacxe</a:t>
            </a: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Merging:</a:t>
            </a:r>
          </a:p>
          <a:p>
            <a:pPr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Each metadata row has an id — this maps to an image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checks if the image file exists 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adds a new column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Now every product row has:</a:t>
            </a:r>
          </a:p>
          <a:p>
            <a:pPr marL="1028700" lvl="1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metadata </a:t>
            </a:r>
          </a:p>
          <a:p>
            <a:pPr marL="1028700" lvl="1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corresponding image location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26444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BF0BDE7-696F-1414-3B4C-01540C37C459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0" y="777922"/>
            <a:ext cx="11982733" cy="4688006"/>
          </a:xfrm>
        </p:spPr>
        <p:txBody>
          <a:bodyPr/>
          <a:lstStyle/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Validate Images:</a:t>
            </a:r>
            <a:r>
              <a:rPr lang="en-US" alt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lvl="2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tries opening every image with PIL </a:t>
            </a:r>
          </a:p>
          <a:p>
            <a:pPr lvl="2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removes corrupted/unreadable images</a:t>
            </a:r>
          </a:p>
          <a:p>
            <a:pPr lvl="2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ensures uniform image format (RGB) </a:t>
            </a:r>
          </a:p>
          <a:p>
            <a:pPr lvl="2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logs missing images</a:t>
            </a:r>
          </a:p>
          <a:p>
            <a:pPr marL="914400" lvl="2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10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Splitting:</a:t>
            </a:r>
            <a:r>
              <a:rPr lang="en-US" alt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Data is partitioned into Train (70%), Validation (15%), and Test (15%) sets .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Ensure each split keeps the same distribution of: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 genders, categories, brands </a:t>
            </a:r>
            <a:r>
              <a:rPr lang="en-US" altLang="en-US" sz="2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etc</a:t>
            </a:r>
            <a:r>
              <a:rPr lang="en-US" alt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10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Vocabulary:</a:t>
            </a:r>
            <a:r>
              <a:rPr lang="en-US" alt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Frequency-based vocabulary constructed by filtering rare words (appearing &lt; 2 times). </a:t>
            </a:r>
          </a:p>
          <a:p>
            <a:pPr lvl="2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tokenize cleaned captions</a:t>
            </a:r>
          </a:p>
          <a:p>
            <a:pPr lvl="2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count word frequencies</a:t>
            </a:r>
          </a:p>
          <a:p>
            <a:pPr lvl="2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keep top-K words (e.g., 10k) </a:t>
            </a:r>
          </a:p>
          <a:p>
            <a:pPr lvl="2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assign IDs to each </a:t>
            </a:r>
          </a:p>
          <a:p>
            <a:pPr lvl="2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Special tokens added: &lt;pad&gt;, &lt;</a:t>
            </a:r>
            <a:r>
              <a:rPr lang="en-US" altLang="en-US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bos</a:t>
            </a:r>
            <a:r>
              <a:rPr lang="en-US" alt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&gt;, &lt;</a:t>
            </a:r>
            <a:r>
              <a:rPr lang="en-US" altLang="en-US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eos</a:t>
            </a:r>
            <a:r>
              <a:rPr lang="en-US" alt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&gt;, &lt;</a:t>
            </a:r>
            <a:r>
              <a:rPr lang="en-US" altLang="en-US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unk</a:t>
            </a:r>
            <a:r>
              <a:rPr lang="en-US" alt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24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192B15D-A409-5081-FD25-E0EB3C0AB4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483326" cy="975070"/>
          </a:xfrm>
        </p:spPr>
        <p:txBody>
          <a:bodyPr/>
          <a:lstStyle/>
          <a:p>
            <a:r>
              <a:rPr lang="en-IN" dirty="0">
                <a:solidFill>
                  <a:schemeClr val="tx1"/>
                </a:solidFill>
              </a:rPr>
              <a:t>Data Processing Pipeline (ETL)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8093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D4526D8-3535-EEDC-9F67-7CB44F99F0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53240" y="-249344"/>
            <a:ext cx="11138648" cy="975070"/>
          </a:xfrm>
        </p:spPr>
        <p:txBody>
          <a:bodyPr/>
          <a:lstStyle/>
          <a:p>
            <a:r>
              <a:rPr lang="en-IN" sz="3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Baseline Architecture (</a:t>
            </a:r>
            <a:r>
              <a:rPr lang="en-IN" sz="39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ResNet</a:t>
            </a:r>
            <a:r>
              <a:rPr lang="en-IN" sz="3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+ Transformer)</a:t>
            </a:r>
            <a:endParaRPr lang="en-US" sz="39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D0EFC51-6273-B162-68FD-8C5A05D02819}"/>
              </a:ext>
            </a:extLst>
          </p:cNvPr>
          <p:cNvSpPr>
            <a:spLocks noGrp="1" noChangeArrowheads="1"/>
          </p:cNvSpPr>
          <p:nvPr>
            <p:ph idx="13"/>
          </p:nvPr>
        </p:nvSpPr>
        <p:spPr bwMode="auto">
          <a:xfrm>
            <a:off x="0" y="174920"/>
            <a:ext cx="12411288" cy="7443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sz="1600" dirty="0"/>
          </a:p>
          <a:p>
            <a:r>
              <a:rPr lang="en-US" sz="1600" dirty="0"/>
              <a:t>Encoder - </a:t>
            </a:r>
          </a:p>
          <a:p>
            <a:r>
              <a:rPr lang="en-US" sz="1600" dirty="0"/>
              <a:t>ResNet-50 (</a:t>
            </a:r>
            <a:r>
              <a:rPr lang="fr-FR" sz="1600" dirty="0"/>
              <a:t>images: (B, 3, 224, 224)</a:t>
            </a:r>
            <a:endParaRPr lang="en-US" sz="1600" dirty="0"/>
          </a:p>
          <a:p>
            <a:r>
              <a:rPr lang="en-US" sz="1600" dirty="0" err="1"/>
              <a:t>ResNet</a:t>
            </a:r>
            <a:r>
              <a:rPr lang="en-US" sz="1600" dirty="0"/>
              <a:t> Feature Extraction - </a:t>
            </a:r>
            <a:br>
              <a:rPr lang="en-US" sz="1600" dirty="0"/>
            </a:br>
            <a:r>
              <a:rPr lang="en-US" sz="1600" dirty="0"/>
              <a:t>	</a:t>
            </a:r>
            <a:r>
              <a:rPr lang="en-US" sz="1600" dirty="0" err="1"/>
              <a:t>ResNet</a:t>
            </a:r>
            <a:r>
              <a:rPr lang="en-US" sz="1600" dirty="0"/>
              <a:t> output feature map: (B, 2048, 7, 7) - 7×7 grid of deep visual features(</a:t>
            </a:r>
          </a:p>
          <a:p>
            <a:r>
              <a:rPr lang="en-US" sz="1600" dirty="0"/>
              <a:t>Global Average Pooling -     </a:t>
            </a:r>
          </a:p>
          <a:p>
            <a:r>
              <a:rPr lang="en-US" sz="1600" dirty="0"/>
              <a:t>	We reduce the 7×7 spatial map into a single vector: (B, 2048)</a:t>
            </a:r>
          </a:p>
          <a:p>
            <a:br>
              <a:rPr lang="en-US" sz="1600" dirty="0"/>
            </a:br>
            <a:r>
              <a:rPr lang="en-US" sz="1600" dirty="0"/>
              <a:t>Decoder</a:t>
            </a:r>
          </a:p>
          <a:p>
            <a:r>
              <a:rPr lang="en-US" sz="1600" dirty="0"/>
              <a:t>: Transformer Decoder , captions: (B, L)  </a:t>
            </a:r>
            <a:r>
              <a:rPr lang="en-US" sz="1600" dirty="0" err="1"/>
              <a:t>image_emb</a:t>
            </a:r>
            <a:r>
              <a:rPr lang="en-US" sz="1600" dirty="0"/>
              <a:t> = Linear(2048 → 512)</a:t>
            </a:r>
          </a:p>
          <a:p>
            <a:r>
              <a:rPr lang="en-US" sz="1600" dirty="0"/>
              <a:t>Transformer decoder works in a hidden dimension memory shape = (B, 1, 512)</a:t>
            </a:r>
          </a:p>
          <a:p>
            <a:r>
              <a:rPr lang="en-US" sz="1600" dirty="0"/>
              <a:t>	 Masked Self-Attention-   Prevents decoder from “seeing the future”  , Allows attention over previous words</a:t>
            </a:r>
          </a:p>
          <a:p>
            <a:r>
              <a:rPr lang="en-US" sz="1600" dirty="0"/>
              <a:t>	Cross-Attention -   </a:t>
            </a:r>
          </a:p>
          <a:p>
            <a:r>
              <a:rPr lang="en-US" sz="1600" dirty="0"/>
              <a:t>		Query = decoder hidden state </a:t>
            </a:r>
          </a:p>
          <a:p>
            <a:r>
              <a:rPr lang="en-US" sz="1600" dirty="0"/>
              <a:t>		Key = encoder memory (B, 1, 512) , </a:t>
            </a:r>
          </a:p>
          <a:p>
            <a:r>
              <a:rPr lang="en-US" sz="1600" dirty="0"/>
              <a:t>		Value = encoder memory (B, 1, 512)</a:t>
            </a:r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61379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3900C53-59AE-89DE-C06F-C3A98535232C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" y="-917"/>
            <a:ext cx="7137778" cy="5521435"/>
          </a:xfrm>
        </p:spPr>
        <p:txBody>
          <a:bodyPr/>
          <a:lstStyle/>
          <a:p>
            <a:r>
              <a:rPr lang="en-US" sz="1800" dirty="0"/>
              <a:t>	</a:t>
            </a:r>
            <a:r>
              <a:rPr lang="en-US" sz="1800" dirty="0">
                <a:solidFill>
                  <a:schemeClr val="tx1"/>
                </a:solidFill>
                <a:latin typeface="+mn-lt"/>
                <a:cs typeface="+mn-cs"/>
              </a:rPr>
              <a:t>Feed-Forward Network Feed-Forward Network </a:t>
            </a:r>
          </a:p>
          <a:p>
            <a:r>
              <a:rPr lang="en-US" sz="1800" dirty="0">
                <a:solidFill>
                  <a:schemeClr val="tx1"/>
                </a:solidFill>
                <a:latin typeface="+mn-lt"/>
                <a:cs typeface="+mn-cs"/>
              </a:rPr>
              <a:t>Output - logits = Linear(512 → </a:t>
            </a:r>
            <a:r>
              <a:rPr lang="en-US" sz="1800" dirty="0" err="1">
                <a:solidFill>
                  <a:schemeClr val="tx1"/>
                </a:solidFill>
                <a:latin typeface="+mn-lt"/>
                <a:cs typeface="+mn-cs"/>
              </a:rPr>
              <a:t>vocab_size</a:t>
            </a:r>
            <a:r>
              <a:rPr lang="en-US" sz="1800" dirty="0">
                <a:solidFill>
                  <a:schemeClr val="tx1"/>
                </a:solidFill>
                <a:latin typeface="+mn-lt"/>
                <a:cs typeface="+mn-cs"/>
              </a:rPr>
              <a:t>)     shape: (B, L-1, </a:t>
            </a:r>
            <a:r>
              <a:rPr lang="en-US" sz="1800" dirty="0" err="1">
                <a:solidFill>
                  <a:schemeClr val="tx1"/>
                </a:solidFill>
                <a:latin typeface="+mn-lt"/>
                <a:cs typeface="+mn-cs"/>
              </a:rPr>
              <a:t>vocab_size</a:t>
            </a:r>
            <a:r>
              <a:rPr lang="en-US" sz="1800" dirty="0">
                <a:solidFill>
                  <a:schemeClr val="tx1"/>
                </a:solidFill>
                <a:latin typeface="+mn-lt"/>
                <a:cs typeface="+mn-cs"/>
              </a:rPr>
              <a:t>)</a:t>
            </a:r>
          </a:p>
          <a:p>
            <a:r>
              <a:rPr lang="en-US" sz="1800" dirty="0">
                <a:solidFill>
                  <a:schemeClr val="tx1"/>
                </a:solidFill>
                <a:latin typeface="+mn-lt"/>
                <a:cs typeface="+mn-cs"/>
              </a:rPr>
              <a:t>Loss Computation:</a:t>
            </a:r>
          </a:p>
          <a:p>
            <a:r>
              <a:rPr lang="en-US" sz="1800" dirty="0">
                <a:solidFill>
                  <a:schemeClr val="tx1"/>
                </a:solidFill>
                <a:latin typeface="+mn-lt"/>
                <a:cs typeface="+mn-cs"/>
              </a:rPr>
              <a:t> 	loss = </a:t>
            </a:r>
            <a:r>
              <a:rPr lang="en-US" sz="1800" dirty="0" err="1">
                <a:solidFill>
                  <a:schemeClr val="tx1"/>
                </a:solidFill>
                <a:latin typeface="+mn-lt"/>
                <a:cs typeface="+mn-cs"/>
              </a:rPr>
              <a:t>CrossEntropy</a:t>
            </a:r>
            <a:r>
              <a:rPr lang="en-US" sz="1800" dirty="0">
                <a:solidFill>
                  <a:schemeClr val="tx1"/>
                </a:solidFill>
                <a:latin typeface="+mn-lt"/>
                <a:cs typeface="+mn-cs"/>
              </a:rPr>
              <a:t> (logits, </a:t>
            </a:r>
            <a:r>
              <a:rPr lang="en-US" sz="1800" dirty="0" err="1">
                <a:solidFill>
                  <a:schemeClr val="tx1"/>
                </a:solidFill>
                <a:latin typeface="+mn-lt"/>
                <a:cs typeface="+mn-cs"/>
              </a:rPr>
              <a:t>decoder_target</a:t>
            </a:r>
            <a:r>
              <a:rPr lang="en-US" sz="1800" dirty="0">
                <a:solidFill>
                  <a:schemeClr val="tx1"/>
                </a:solidFill>
                <a:latin typeface="+mn-lt"/>
                <a:cs typeface="+mn-cs"/>
              </a:rPr>
              <a:t>)		</a:t>
            </a:r>
          </a:p>
          <a:p>
            <a:r>
              <a:rPr lang="en-US" sz="1800" dirty="0">
                <a:solidFill>
                  <a:schemeClr val="tx1"/>
                </a:solidFill>
                <a:latin typeface="+mn-lt"/>
                <a:cs typeface="+mn-cs"/>
              </a:rPr>
              <a:t>Data Flow Diagram -</a:t>
            </a:r>
            <a:br>
              <a:rPr lang="en-US" sz="1800" dirty="0">
                <a:solidFill>
                  <a:schemeClr val="tx1"/>
                </a:solidFill>
                <a:latin typeface="+mn-lt"/>
                <a:cs typeface="+mn-cs"/>
              </a:rPr>
            </a:br>
            <a:r>
              <a:rPr lang="en-US" sz="1800" dirty="0">
                <a:solidFill>
                  <a:schemeClr val="tx1"/>
                </a:solidFill>
                <a:latin typeface="+mn-lt"/>
                <a:cs typeface="+mn-cs"/>
              </a:rPr>
              <a:t>	Image (3×224×224)</a:t>
            </a:r>
            <a:br>
              <a:rPr lang="en-US" sz="1800" dirty="0">
                <a:solidFill>
                  <a:schemeClr val="tx1"/>
                </a:solidFill>
                <a:latin typeface="+mn-lt"/>
                <a:cs typeface="+mn-cs"/>
              </a:rPr>
            </a:br>
            <a:r>
              <a:rPr lang="en-US" sz="1800" dirty="0">
                <a:solidFill>
                  <a:schemeClr val="tx1"/>
                </a:solidFill>
                <a:latin typeface="+mn-lt"/>
                <a:cs typeface="+mn-cs"/>
              </a:rPr>
              <a:t>		↓</a:t>
            </a:r>
            <a:br>
              <a:rPr lang="en-US" sz="1800" dirty="0">
                <a:solidFill>
                  <a:schemeClr val="tx1"/>
                </a:solidFill>
                <a:latin typeface="+mn-lt"/>
                <a:cs typeface="+mn-cs"/>
              </a:rPr>
            </a:br>
            <a:r>
              <a:rPr lang="en-US" sz="1800" dirty="0">
                <a:solidFill>
                  <a:schemeClr val="tx1"/>
                </a:solidFill>
                <a:latin typeface="+mn-lt"/>
                <a:cs typeface="+mn-cs"/>
              </a:rPr>
              <a:t>	ResNet-50 Encoder</a:t>
            </a:r>
            <a:br>
              <a:rPr lang="en-US" sz="1800" dirty="0">
                <a:solidFill>
                  <a:schemeClr val="tx1"/>
                </a:solidFill>
                <a:latin typeface="+mn-lt"/>
                <a:cs typeface="+mn-cs"/>
              </a:rPr>
            </a:br>
            <a:r>
              <a:rPr lang="en-US" sz="1800" dirty="0">
                <a:solidFill>
                  <a:schemeClr val="tx1"/>
                </a:solidFill>
                <a:latin typeface="+mn-lt"/>
                <a:cs typeface="+mn-cs"/>
              </a:rPr>
              <a:t>		↓ (B, 2048)</a:t>
            </a:r>
            <a:br>
              <a:rPr lang="en-US" sz="1800" dirty="0">
                <a:solidFill>
                  <a:schemeClr val="tx1"/>
                </a:solidFill>
                <a:latin typeface="+mn-lt"/>
                <a:cs typeface="+mn-cs"/>
              </a:rPr>
            </a:br>
            <a:r>
              <a:rPr lang="en-US" sz="1800" dirty="0">
                <a:solidFill>
                  <a:schemeClr val="tx1"/>
                </a:solidFill>
                <a:latin typeface="+mn-lt"/>
                <a:cs typeface="+mn-cs"/>
              </a:rPr>
              <a:t>	Global Avg Pool</a:t>
            </a:r>
            <a:br>
              <a:rPr lang="en-US" sz="1800" dirty="0">
                <a:solidFill>
                  <a:schemeClr val="tx1"/>
                </a:solidFill>
                <a:latin typeface="+mn-lt"/>
                <a:cs typeface="+mn-cs"/>
              </a:rPr>
            </a:br>
            <a:r>
              <a:rPr lang="en-US" sz="1800" dirty="0">
                <a:solidFill>
                  <a:schemeClr val="tx1"/>
                </a:solidFill>
                <a:latin typeface="+mn-lt"/>
                <a:cs typeface="+mn-cs"/>
              </a:rPr>
              <a:t>		↓ (B, 2048)</a:t>
            </a:r>
            <a:br>
              <a:rPr lang="en-US" sz="1800" dirty="0">
                <a:solidFill>
                  <a:schemeClr val="tx1"/>
                </a:solidFill>
                <a:latin typeface="+mn-lt"/>
                <a:cs typeface="+mn-cs"/>
              </a:rPr>
            </a:br>
            <a:r>
              <a:rPr lang="en-US" sz="1800" dirty="0">
                <a:solidFill>
                  <a:schemeClr val="tx1"/>
                </a:solidFill>
                <a:latin typeface="+mn-lt"/>
                <a:cs typeface="+mn-cs"/>
              </a:rPr>
              <a:t>	Linear Projection</a:t>
            </a:r>
            <a:br>
              <a:rPr lang="en-US" sz="1800" dirty="0">
                <a:solidFill>
                  <a:schemeClr val="tx1"/>
                </a:solidFill>
                <a:latin typeface="+mn-lt"/>
                <a:cs typeface="+mn-cs"/>
              </a:rPr>
            </a:br>
            <a:r>
              <a:rPr lang="en-US" sz="1800" dirty="0">
                <a:solidFill>
                  <a:schemeClr val="tx1"/>
                </a:solidFill>
                <a:latin typeface="+mn-lt"/>
                <a:cs typeface="+mn-cs"/>
              </a:rPr>
              <a:t>		↓ (B, 512)</a:t>
            </a:r>
            <a:br>
              <a:rPr lang="en-US" sz="1800" dirty="0">
                <a:solidFill>
                  <a:schemeClr val="tx1"/>
                </a:solidFill>
                <a:latin typeface="+mn-lt"/>
                <a:cs typeface="+mn-cs"/>
              </a:rPr>
            </a:br>
            <a:r>
              <a:rPr lang="en-US" sz="1800" dirty="0">
                <a:solidFill>
                  <a:schemeClr val="tx1"/>
                </a:solidFill>
                <a:latin typeface="+mn-lt"/>
                <a:cs typeface="+mn-cs"/>
              </a:rPr>
              <a:t>	</a:t>
            </a:r>
            <a:r>
              <a:rPr lang="en-US" sz="1800" dirty="0" err="1">
                <a:solidFill>
                  <a:schemeClr val="tx1"/>
                </a:solidFill>
                <a:latin typeface="+mn-lt"/>
                <a:cs typeface="+mn-cs"/>
              </a:rPr>
              <a:t>Unsqueeze</a:t>
            </a:r>
            <a:r>
              <a:rPr lang="en-US" sz="1800" dirty="0">
                <a:solidFill>
                  <a:schemeClr val="tx1"/>
                </a:solidFill>
                <a:latin typeface="+mn-lt"/>
                <a:cs typeface="+mn-cs"/>
              </a:rPr>
              <a:t> → Memory (B, 1, 512)</a:t>
            </a:r>
            <a:br>
              <a:rPr lang="en-US" sz="1800" dirty="0">
                <a:solidFill>
                  <a:schemeClr val="tx1"/>
                </a:solidFill>
                <a:latin typeface="+mn-lt"/>
                <a:cs typeface="+mn-cs"/>
              </a:rPr>
            </a:br>
            <a:r>
              <a:rPr lang="en-US" sz="1800" dirty="0">
                <a:solidFill>
                  <a:schemeClr val="tx1"/>
                </a:solidFill>
                <a:latin typeface="+mn-lt"/>
                <a:cs typeface="+mn-cs"/>
              </a:rPr>
              <a:t>		↓</a:t>
            </a:r>
            <a:br>
              <a:rPr lang="en-US" sz="1800" dirty="0">
                <a:solidFill>
                  <a:schemeClr val="tx1"/>
                </a:solidFill>
                <a:latin typeface="+mn-lt"/>
                <a:cs typeface="+mn-cs"/>
              </a:rPr>
            </a:br>
            <a:r>
              <a:rPr lang="en-US" sz="1800" dirty="0">
                <a:solidFill>
                  <a:schemeClr val="tx1"/>
                </a:solidFill>
                <a:latin typeface="+mn-lt"/>
                <a:cs typeface="+mn-cs"/>
              </a:rPr>
              <a:t>	Transformer Decoder &lt;— Caption Tokens (B, L)</a:t>
            </a:r>
            <a:br>
              <a:rPr lang="en-US" sz="1800" dirty="0">
                <a:solidFill>
                  <a:schemeClr val="tx1"/>
                </a:solidFill>
                <a:latin typeface="+mn-lt"/>
                <a:cs typeface="+mn-cs"/>
              </a:rPr>
            </a:br>
            <a:r>
              <a:rPr lang="en-US" sz="1800" dirty="0">
                <a:solidFill>
                  <a:schemeClr val="tx1"/>
                </a:solidFill>
                <a:latin typeface="+mn-lt"/>
                <a:cs typeface="+mn-cs"/>
              </a:rPr>
              <a:t>		↓</a:t>
            </a:r>
            <a:br>
              <a:rPr lang="en-US" sz="1800" dirty="0">
                <a:solidFill>
                  <a:schemeClr val="tx1"/>
                </a:solidFill>
                <a:latin typeface="+mn-lt"/>
                <a:cs typeface="+mn-cs"/>
              </a:rPr>
            </a:br>
            <a:r>
              <a:rPr lang="en-US" sz="1800" dirty="0">
                <a:solidFill>
                  <a:schemeClr val="tx1"/>
                </a:solidFill>
                <a:latin typeface="+mn-lt"/>
                <a:cs typeface="+mn-cs"/>
              </a:rPr>
              <a:t>	Logits (B, L-1, V)</a:t>
            </a:r>
            <a:br>
              <a:rPr lang="en-US" sz="1800" dirty="0">
                <a:solidFill>
                  <a:schemeClr val="tx1"/>
                </a:solidFill>
                <a:latin typeface="+mn-lt"/>
                <a:cs typeface="+mn-cs"/>
              </a:rPr>
            </a:br>
            <a:r>
              <a:rPr lang="en-US" sz="1800" dirty="0">
                <a:solidFill>
                  <a:schemeClr val="tx1"/>
                </a:solidFill>
                <a:latin typeface="+mn-lt"/>
                <a:cs typeface="+mn-cs"/>
              </a:rPr>
              <a:t>		↓</a:t>
            </a:r>
            <a:br>
              <a:rPr lang="en-US" sz="1800" dirty="0">
                <a:solidFill>
                  <a:schemeClr val="tx1"/>
                </a:solidFill>
                <a:latin typeface="+mn-lt"/>
                <a:cs typeface="+mn-cs"/>
              </a:rPr>
            </a:br>
            <a:r>
              <a:rPr lang="en-US" sz="1800" dirty="0">
                <a:solidFill>
                  <a:schemeClr val="tx1"/>
                </a:solidFill>
                <a:latin typeface="+mn-lt"/>
                <a:cs typeface="+mn-cs"/>
              </a:rPr>
              <a:t>	Cross-Entropy Loss</a:t>
            </a:r>
          </a:p>
          <a:p>
            <a:br>
              <a:rPr lang="en-US" sz="1800" dirty="0"/>
            </a:br>
            <a:endParaRPr lang="en-US" sz="1800" dirty="0"/>
          </a:p>
          <a:p>
            <a:endParaRPr lang="en-US" sz="1800" dirty="0"/>
          </a:p>
          <a:p>
            <a:endParaRPr lang="en-US" sz="1800" dirty="0"/>
          </a:p>
          <a:p>
            <a:endParaRPr lang="en-US" sz="1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D139141-7393-0AA2-0218-0698DB79678D}"/>
              </a:ext>
            </a:extLst>
          </p:cNvPr>
          <p:cNvSpPr txBox="1"/>
          <p:nvPr/>
        </p:nvSpPr>
        <p:spPr>
          <a:xfrm>
            <a:off x="6317776" y="2813923"/>
            <a:ext cx="578665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Decoder uses </a:t>
            </a:r>
            <a:r>
              <a:rPr lang="en-US" b="1" dirty="0"/>
              <a:t>Cross-Attention</a:t>
            </a:r>
            <a:r>
              <a:rPr lang="en-US" dirty="0"/>
              <a:t>:</a:t>
            </a:r>
          </a:p>
          <a:p>
            <a:r>
              <a:rPr lang="en-US" dirty="0"/>
              <a:t>	Query  = decoder hidden state</a:t>
            </a:r>
          </a:p>
          <a:p>
            <a:r>
              <a:rPr lang="en-US" dirty="0"/>
              <a:t>	Key    = image memory</a:t>
            </a:r>
          </a:p>
          <a:p>
            <a:r>
              <a:rPr lang="en-US" dirty="0"/>
              <a:t>	Value  = image memory</a:t>
            </a:r>
          </a:p>
          <a:p>
            <a:endParaRPr lang="en-US" dirty="0"/>
          </a:p>
          <a:p>
            <a:r>
              <a:rPr lang="en-US" dirty="0"/>
              <a:t>So the decoder  looks at the image embedding to decide the next word.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AC26AF0-6570-D5A0-CF41-17FE33A57343}"/>
              </a:ext>
            </a:extLst>
          </p:cNvPr>
          <p:cNvSpPr txBox="1"/>
          <p:nvPr/>
        </p:nvSpPr>
        <p:spPr>
          <a:xfrm>
            <a:off x="6931924" y="116005"/>
            <a:ext cx="553530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dirty="0"/>
              <a:t>Backpropagation- </a:t>
            </a:r>
          </a:p>
          <a:p>
            <a:pPr lvl="0"/>
            <a:r>
              <a:rPr lang="en-US" dirty="0"/>
              <a:t>Decoder gradients flow backward → update decoder parameters</a:t>
            </a:r>
          </a:p>
          <a:p>
            <a:pPr lvl="0"/>
            <a:endParaRPr lang="en-US" dirty="0"/>
          </a:p>
          <a:p>
            <a:pPr lvl="0"/>
            <a:r>
              <a:rPr lang="en-US" dirty="0"/>
              <a:t>Through cross-attention → update encoder projection</a:t>
            </a:r>
          </a:p>
          <a:p>
            <a:pPr lvl="0"/>
            <a:endParaRPr lang="en-US" dirty="0"/>
          </a:p>
          <a:p>
            <a:pPr lvl="0"/>
            <a:r>
              <a:rPr lang="en-US" dirty="0"/>
              <a:t>Through encoder output → update </a:t>
            </a:r>
            <a:r>
              <a:rPr lang="en-US" dirty="0" err="1"/>
              <a:t>ResNet</a:t>
            </a:r>
            <a:r>
              <a:rPr lang="en-US" dirty="0"/>
              <a:t> weights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84545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4ABAB37-D790-772F-49FD-53CFE18AF136}"/>
              </a:ext>
            </a:extLst>
          </p:cNvPr>
          <p:cNvPicPr>
            <a:picLocks noGrp="1" noChangeAspect="1"/>
          </p:cNvPicPr>
          <p:nvPr>
            <p:ph idx="13"/>
          </p:nvPr>
        </p:nvPicPr>
        <p:blipFill>
          <a:blip r:embed="rId2"/>
          <a:stretch>
            <a:fillRect/>
          </a:stretch>
        </p:blipFill>
        <p:spPr>
          <a:xfrm>
            <a:off x="0" y="883929"/>
            <a:ext cx="3054667" cy="4582000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0A859944-1449-C8FF-F001-EE89E2BC76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1068722" cy="975070"/>
          </a:xfrm>
        </p:spPr>
        <p:txBody>
          <a:bodyPr/>
          <a:lstStyle/>
          <a:p>
            <a:r>
              <a:rPr lang="en-IN" sz="3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Baseline Architecture (</a:t>
            </a:r>
            <a:r>
              <a:rPr lang="en-IN" sz="3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ResNet</a:t>
            </a:r>
            <a:r>
              <a:rPr lang="en-IN" sz="3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+ Transformer)</a:t>
            </a:r>
            <a:endParaRPr lang="en-US" sz="32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6898E6B-A975-DDEB-F521-EF2F78E398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1779" y="1159477"/>
            <a:ext cx="5753142" cy="3733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12304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AF4157A-1CFB-0526-DCF6-DCFAF46070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ResNet</a:t>
            </a:r>
            <a:r>
              <a:rPr lang="en-IN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+ Transformer Architecture</a:t>
            </a:r>
            <a:endParaRPr lang="en-US" dirty="0"/>
          </a:p>
        </p:txBody>
      </p:sp>
      <p:pic>
        <p:nvPicPr>
          <p:cNvPr id="12290" name="Picture 2">
            <a:extLst>
              <a:ext uri="{FF2B5EF4-FFF2-40B4-BE49-F238E27FC236}">
                <a16:creationId xmlns:a16="http://schemas.microsoft.com/office/drawing/2014/main" id="{C2B67F26-C9F3-F780-ACFD-8FDAE3AC23DB}"/>
              </a:ext>
            </a:extLst>
          </p:cNvPr>
          <p:cNvPicPr>
            <a:picLocks noGrp="1" noChangeAspect="1" noChangeArrowheads="1"/>
          </p:cNvPicPr>
          <p:nvPr>
            <p:ph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7823"/>
            <a:ext cx="12192000" cy="67901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505300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C917D76-2599-DEDD-9092-96BBFB8ADA79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-1" y="975069"/>
            <a:ext cx="12071445" cy="4429443"/>
          </a:xfrm>
        </p:spPr>
        <p:txBody>
          <a:bodyPr/>
          <a:lstStyle/>
          <a:p>
            <a:pPr marL="457200" indent="-457200">
              <a:buFontTx/>
              <a:buChar char="-"/>
            </a:pPr>
            <a:r>
              <a:rPr lang="en-US" sz="1800" dirty="0">
                <a:solidFill>
                  <a:schemeClr val="tx1"/>
                </a:solidFill>
                <a:latin typeface="+mn-lt"/>
                <a:cs typeface="+mn-cs"/>
              </a:rPr>
              <a:t>extends the baseline architecture by introducing metadata embeddings and a fusion layer.</a:t>
            </a:r>
          </a:p>
          <a:p>
            <a:pPr marL="457200" indent="-457200">
              <a:buFontTx/>
              <a:buChar char="-"/>
            </a:pPr>
            <a:r>
              <a:rPr lang="en-US" sz="1800" dirty="0">
                <a:solidFill>
                  <a:schemeClr val="tx1"/>
                </a:solidFill>
                <a:latin typeface="+mn-lt"/>
                <a:cs typeface="+mn-cs"/>
              </a:rPr>
              <a:t>This helps the model use structured catalog information that images alone cannot reliably capture.</a:t>
            </a:r>
          </a:p>
          <a:p>
            <a:r>
              <a:rPr lang="en-US" sz="1800" dirty="0"/>
              <a:t>Image Encoder (MobileNetV2)</a:t>
            </a:r>
          </a:p>
          <a:p>
            <a:r>
              <a:rPr lang="en-US" sz="1800" dirty="0">
                <a:solidFill>
                  <a:schemeClr val="tx1"/>
                </a:solidFill>
                <a:latin typeface="+mn-lt"/>
                <a:cs typeface="+mn-cs"/>
              </a:rPr>
              <a:t>	 (B, 3, 224, 224) </a:t>
            </a:r>
            <a:r>
              <a:rPr lang="en-US" sz="1800" dirty="0" err="1">
                <a:solidFill>
                  <a:schemeClr val="tx1"/>
                </a:solidFill>
                <a:latin typeface="+mn-lt"/>
                <a:cs typeface="+mn-cs"/>
              </a:rPr>
              <a:t>Golabal</a:t>
            </a:r>
            <a:r>
              <a:rPr lang="en-US" sz="1800" dirty="0">
                <a:solidFill>
                  <a:schemeClr val="tx1"/>
                </a:solidFill>
                <a:latin typeface="+mn-lt"/>
                <a:cs typeface="+mn-cs"/>
              </a:rPr>
              <a:t> Pooling ---</a:t>
            </a:r>
            <a:r>
              <a:rPr lang="en-US" sz="1800" dirty="0">
                <a:solidFill>
                  <a:schemeClr val="tx1"/>
                </a:solidFill>
                <a:latin typeface="+mn-lt"/>
                <a:cs typeface="+mn-cs"/>
                <a:sym typeface="Wingdings" panose="05000000000000000000" pitchFamily="2" charset="2"/>
              </a:rPr>
              <a:t>&gt;  </a:t>
            </a:r>
            <a:r>
              <a:rPr lang="en-US" sz="1800" dirty="0" err="1">
                <a:solidFill>
                  <a:schemeClr val="tx1"/>
                </a:solidFill>
                <a:latin typeface="+mn-lt"/>
                <a:cs typeface="+mn-cs"/>
                <a:sym typeface="Wingdings" panose="05000000000000000000" pitchFamily="2" charset="2"/>
              </a:rPr>
              <a:t>image_vec</a:t>
            </a:r>
            <a:r>
              <a:rPr lang="en-US" sz="1800" dirty="0">
                <a:solidFill>
                  <a:schemeClr val="tx1"/>
                </a:solidFill>
                <a:latin typeface="+mn-lt"/>
                <a:cs typeface="+mn-cs"/>
                <a:sym typeface="Wingdings" panose="05000000000000000000" pitchFamily="2" charset="2"/>
              </a:rPr>
              <a:t>: (B, 1280)</a:t>
            </a:r>
          </a:p>
          <a:p>
            <a:endParaRPr lang="en-US" sz="1800" dirty="0">
              <a:solidFill>
                <a:schemeClr val="tx1"/>
              </a:solidFill>
              <a:latin typeface="+mn-lt"/>
              <a:cs typeface="+mn-cs"/>
              <a:sym typeface="Wingdings" panose="05000000000000000000" pitchFamily="2" charset="2"/>
            </a:endParaRPr>
          </a:p>
          <a:p>
            <a:r>
              <a:rPr lang="en-US" sz="1800" dirty="0">
                <a:solidFill>
                  <a:schemeClr val="tx1"/>
                </a:solidFill>
                <a:latin typeface="+mn-lt"/>
                <a:cs typeface="+mn-cs"/>
              </a:rPr>
              <a:t>Metadata Embedding Layers- </a:t>
            </a:r>
          </a:p>
          <a:p>
            <a:r>
              <a:rPr lang="en-US" sz="1800" dirty="0">
                <a:solidFill>
                  <a:schemeClr val="tx1"/>
                </a:solidFill>
                <a:latin typeface="+mn-lt"/>
                <a:cs typeface="+mn-cs"/>
              </a:rPr>
              <a:t>	</a:t>
            </a:r>
            <a:r>
              <a:rPr lang="en-US" sz="1800" dirty="0" err="1">
                <a:solidFill>
                  <a:schemeClr val="tx1"/>
                </a:solidFill>
                <a:latin typeface="+mn-lt"/>
                <a:cs typeface="+mn-cs"/>
              </a:rPr>
              <a:t>gender_emb</a:t>
            </a:r>
            <a:r>
              <a:rPr lang="en-US" sz="1800" dirty="0">
                <a:solidFill>
                  <a:schemeClr val="tx1"/>
                </a:solidFill>
                <a:latin typeface="+mn-lt"/>
                <a:cs typeface="+mn-cs"/>
              </a:rPr>
              <a:t>:         (B, 16)</a:t>
            </a:r>
          </a:p>
          <a:p>
            <a:r>
              <a:rPr lang="en-US" sz="1800" dirty="0">
                <a:solidFill>
                  <a:schemeClr val="tx1"/>
                </a:solidFill>
                <a:latin typeface="+mn-lt"/>
                <a:cs typeface="+mn-cs"/>
              </a:rPr>
              <a:t>	</a:t>
            </a:r>
            <a:r>
              <a:rPr lang="en-US" sz="1800" dirty="0" err="1">
                <a:solidFill>
                  <a:schemeClr val="tx1"/>
                </a:solidFill>
                <a:latin typeface="+mn-lt"/>
                <a:cs typeface="+mn-cs"/>
              </a:rPr>
              <a:t>masterCategory_emb</a:t>
            </a:r>
            <a:r>
              <a:rPr lang="en-US" sz="1800" dirty="0">
                <a:solidFill>
                  <a:schemeClr val="tx1"/>
                </a:solidFill>
                <a:latin typeface="+mn-lt"/>
                <a:cs typeface="+mn-cs"/>
              </a:rPr>
              <a:t>: (B, 32) -------</a:t>
            </a:r>
            <a:r>
              <a:rPr lang="en-US" sz="1800" dirty="0">
                <a:solidFill>
                  <a:schemeClr val="tx1"/>
                </a:solidFill>
                <a:latin typeface="+mn-lt"/>
                <a:cs typeface="+mn-cs"/>
                <a:sym typeface="Wingdings" panose="05000000000000000000" pitchFamily="2" charset="2"/>
              </a:rPr>
              <a:t>&gt;</a:t>
            </a:r>
            <a:endParaRPr lang="en-US" sz="1800" dirty="0">
              <a:solidFill>
                <a:schemeClr val="tx1"/>
              </a:solidFill>
              <a:latin typeface="+mn-lt"/>
              <a:cs typeface="+mn-cs"/>
            </a:endParaRPr>
          </a:p>
          <a:p>
            <a:r>
              <a:rPr lang="en-US" sz="1800" dirty="0">
                <a:solidFill>
                  <a:schemeClr val="tx1"/>
                </a:solidFill>
                <a:latin typeface="+mn-lt"/>
                <a:cs typeface="+mn-cs"/>
              </a:rPr>
              <a:t>	</a:t>
            </a:r>
            <a:r>
              <a:rPr lang="en-US" sz="1800" dirty="0" err="1">
                <a:solidFill>
                  <a:schemeClr val="tx1"/>
                </a:solidFill>
                <a:latin typeface="+mn-lt"/>
                <a:cs typeface="+mn-cs"/>
              </a:rPr>
              <a:t>subCategory_emb</a:t>
            </a:r>
            <a:r>
              <a:rPr lang="en-US" sz="1800" dirty="0">
                <a:solidFill>
                  <a:schemeClr val="tx1"/>
                </a:solidFill>
                <a:latin typeface="+mn-lt"/>
                <a:cs typeface="+mn-cs"/>
              </a:rPr>
              <a:t>:    (B, 32)</a:t>
            </a:r>
          </a:p>
          <a:p>
            <a:r>
              <a:rPr lang="en-US" sz="1800" dirty="0">
                <a:solidFill>
                  <a:schemeClr val="tx1"/>
                </a:solidFill>
                <a:latin typeface="+mn-lt"/>
                <a:cs typeface="+mn-cs"/>
              </a:rPr>
              <a:t>	</a:t>
            </a:r>
            <a:r>
              <a:rPr lang="en-US" sz="1800" dirty="0" err="1">
                <a:solidFill>
                  <a:schemeClr val="tx1"/>
                </a:solidFill>
                <a:latin typeface="+mn-lt"/>
                <a:cs typeface="+mn-cs"/>
              </a:rPr>
              <a:t>articleType_emb</a:t>
            </a:r>
            <a:r>
              <a:rPr lang="en-US" sz="1800" dirty="0">
                <a:solidFill>
                  <a:schemeClr val="tx1"/>
                </a:solidFill>
                <a:latin typeface="+mn-lt"/>
                <a:cs typeface="+mn-cs"/>
              </a:rPr>
              <a:t>:    (B, 32)</a:t>
            </a:r>
          </a:p>
          <a:p>
            <a:r>
              <a:rPr lang="en-US" sz="1800" dirty="0">
                <a:solidFill>
                  <a:schemeClr val="tx1"/>
                </a:solidFill>
                <a:latin typeface="+mn-lt"/>
                <a:cs typeface="+mn-cs"/>
              </a:rPr>
              <a:t>	</a:t>
            </a:r>
            <a:r>
              <a:rPr lang="en-US" sz="1800" dirty="0" err="1">
                <a:solidFill>
                  <a:schemeClr val="tx1"/>
                </a:solidFill>
                <a:latin typeface="+mn-lt"/>
                <a:cs typeface="+mn-cs"/>
              </a:rPr>
              <a:t>brand_emb</a:t>
            </a:r>
            <a:r>
              <a:rPr lang="en-US" sz="1800" dirty="0">
                <a:solidFill>
                  <a:schemeClr val="tx1"/>
                </a:solidFill>
                <a:latin typeface="+mn-lt"/>
                <a:cs typeface="+mn-cs"/>
              </a:rPr>
              <a:t>:          (B, 32)</a:t>
            </a:r>
          </a:p>
          <a:p>
            <a:endParaRPr lang="en-US" sz="1800" dirty="0">
              <a:solidFill>
                <a:schemeClr val="tx1"/>
              </a:solidFill>
              <a:latin typeface="+mn-lt"/>
              <a:cs typeface="+mn-cs"/>
            </a:endParaRP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54D8674-7635-5876-8A2E-C7A6A8D069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453582" cy="975070"/>
          </a:xfrm>
        </p:spPr>
        <p:txBody>
          <a:bodyPr/>
          <a:lstStyle/>
          <a:p>
            <a:r>
              <a:rPr lang="en-US" sz="3200" dirty="0"/>
              <a:t>Model-1 Architecture (Image + Metadata Fusion Model)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4016533-D3C9-A472-A8AF-98596120CECF}"/>
              </a:ext>
            </a:extLst>
          </p:cNvPr>
          <p:cNvSpPr txBox="1"/>
          <p:nvPr/>
        </p:nvSpPr>
        <p:spPr>
          <a:xfrm>
            <a:off x="4561761" y="3524533"/>
            <a:ext cx="7779225" cy="6186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dirty="0" err="1"/>
              <a:t>metadata_vec</a:t>
            </a:r>
            <a:r>
              <a:rPr lang="en-US" dirty="0"/>
              <a:t>: (B, </a:t>
            </a:r>
            <a:r>
              <a:rPr lang="en-US" dirty="0" err="1"/>
              <a:t>D_meta</a:t>
            </a:r>
            <a:r>
              <a:rPr lang="en-US" dirty="0"/>
              <a:t>) ---&gt; </a:t>
            </a:r>
            <a:r>
              <a:rPr lang="en-US" dirty="0" err="1"/>
              <a:t>D_meta</a:t>
            </a:r>
            <a:r>
              <a:rPr lang="en-US" dirty="0"/>
              <a:t> = 16 + 32 + 32 + 32 + 32 = 144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93232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C1442E0-752A-6F0D-433D-6B54E444FB79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0" y="44592"/>
            <a:ext cx="12192000" cy="5414512"/>
          </a:xfrm>
        </p:spPr>
        <p:txBody>
          <a:bodyPr/>
          <a:lstStyle/>
          <a:p>
            <a:r>
              <a:rPr lang="en-US" sz="3200" b="1" dirty="0">
                <a:solidFill>
                  <a:schemeClr val="tx1"/>
                </a:solidFill>
                <a:latin typeface="+mn-lt"/>
                <a:cs typeface="+mn-cs"/>
              </a:rPr>
              <a:t>Fusion of Image and Metadata </a:t>
            </a:r>
          </a:p>
          <a:p>
            <a:endParaRPr lang="en-US" sz="1800" dirty="0">
              <a:solidFill>
                <a:schemeClr val="tx1"/>
              </a:solidFill>
              <a:latin typeface="+mn-lt"/>
              <a:cs typeface="+mn-cs"/>
            </a:endParaRPr>
          </a:p>
          <a:p>
            <a:r>
              <a:rPr lang="en-US" sz="1800" dirty="0" err="1">
                <a:solidFill>
                  <a:schemeClr val="tx1"/>
                </a:solidFill>
                <a:latin typeface="+mn-lt"/>
                <a:cs typeface="+mn-cs"/>
              </a:rPr>
              <a:t>concat</a:t>
            </a:r>
            <a:r>
              <a:rPr lang="en-US" sz="1800" dirty="0">
                <a:solidFill>
                  <a:schemeClr val="tx1"/>
                </a:solidFill>
                <a:latin typeface="+mn-lt"/>
                <a:cs typeface="+mn-cs"/>
              </a:rPr>
              <a:t>  =  [</a:t>
            </a:r>
            <a:r>
              <a:rPr lang="en-US" sz="1800" dirty="0" err="1">
                <a:solidFill>
                  <a:schemeClr val="tx1"/>
                </a:solidFill>
                <a:latin typeface="+mn-lt"/>
                <a:cs typeface="+mn-cs"/>
              </a:rPr>
              <a:t>image_vec</a:t>
            </a:r>
            <a:r>
              <a:rPr lang="en-US" sz="1800" dirty="0">
                <a:solidFill>
                  <a:schemeClr val="tx1"/>
                </a:solidFill>
                <a:latin typeface="+mn-lt"/>
                <a:cs typeface="+mn-cs"/>
              </a:rPr>
              <a:t> ; </a:t>
            </a:r>
            <a:r>
              <a:rPr lang="en-US" sz="1800" dirty="0" err="1">
                <a:solidFill>
                  <a:schemeClr val="tx1"/>
                </a:solidFill>
                <a:latin typeface="+mn-lt"/>
                <a:cs typeface="+mn-cs"/>
              </a:rPr>
              <a:t>metadata_vec</a:t>
            </a:r>
            <a:r>
              <a:rPr lang="en-US" sz="1800" dirty="0">
                <a:solidFill>
                  <a:schemeClr val="tx1"/>
                </a:solidFill>
                <a:latin typeface="+mn-lt"/>
                <a:cs typeface="+mn-cs"/>
              </a:rPr>
              <a:t>]   (B, 1280 + 144)  =  (B, 1424)</a:t>
            </a:r>
          </a:p>
          <a:p>
            <a:endParaRPr lang="en-US" sz="1800" dirty="0">
              <a:solidFill>
                <a:schemeClr val="tx1"/>
              </a:solidFill>
              <a:latin typeface="+mn-lt"/>
              <a:cs typeface="+mn-cs"/>
            </a:endParaRPr>
          </a:p>
          <a:p>
            <a:r>
              <a:rPr lang="en-US" sz="1800" dirty="0">
                <a:solidFill>
                  <a:schemeClr val="tx1"/>
                </a:solidFill>
                <a:latin typeface="+mn-lt"/>
                <a:cs typeface="+mn-cs"/>
              </a:rPr>
              <a:t>Linear Fusion Layer –</a:t>
            </a:r>
          </a:p>
          <a:p>
            <a:r>
              <a:rPr lang="en-US" sz="1800" dirty="0">
                <a:solidFill>
                  <a:schemeClr val="tx1"/>
                </a:solidFill>
                <a:latin typeface="+mn-lt"/>
                <a:cs typeface="+mn-cs"/>
              </a:rPr>
              <a:t>	</a:t>
            </a:r>
            <a:r>
              <a:rPr lang="en-US" sz="1800" dirty="0" err="1">
                <a:solidFill>
                  <a:schemeClr val="tx1"/>
                </a:solidFill>
                <a:latin typeface="+mn-lt"/>
                <a:cs typeface="+mn-cs"/>
              </a:rPr>
              <a:t>fused_vec</a:t>
            </a:r>
            <a:r>
              <a:rPr lang="en-US" sz="1800" dirty="0">
                <a:solidFill>
                  <a:schemeClr val="tx1"/>
                </a:solidFill>
                <a:latin typeface="+mn-lt"/>
                <a:cs typeface="+mn-cs"/>
              </a:rPr>
              <a:t> = Linear(1424 → 512) </a:t>
            </a:r>
          </a:p>
          <a:p>
            <a:r>
              <a:rPr lang="en-US" sz="1800" dirty="0">
                <a:solidFill>
                  <a:schemeClr val="tx1"/>
                </a:solidFill>
                <a:latin typeface="+mn-lt"/>
                <a:cs typeface="+mn-cs"/>
              </a:rPr>
              <a:t>	</a:t>
            </a:r>
            <a:r>
              <a:rPr lang="en-US" sz="1800" dirty="0" err="1">
                <a:solidFill>
                  <a:schemeClr val="tx1"/>
                </a:solidFill>
                <a:latin typeface="+mn-lt"/>
                <a:cs typeface="+mn-cs"/>
              </a:rPr>
              <a:t>fused_vec</a:t>
            </a:r>
            <a:r>
              <a:rPr lang="en-US" sz="1800" dirty="0">
                <a:solidFill>
                  <a:schemeClr val="tx1"/>
                </a:solidFill>
                <a:latin typeface="+mn-lt"/>
                <a:cs typeface="+mn-cs"/>
              </a:rPr>
              <a:t>: (B, 512)</a:t>
            </a:r>
          </a:p>
          <a:p>
            <a:endParaRPr lang="en-US" sz="1800" dirty="0">
              <a:solidFill>
                <a:schemeClr val="tx1"/>
              </a:solidFill>
              <a:latin typeface="+mn-lt"/>
              <a:cs typeface="+mn-cs"/>
            </a:endParaRPr>
          </a:p>
          <a:p>
            <a:r>
              <a:rPr lang="en-US" sz="1800" dirty="0">
                <a:solidFill>
                  <a:schemeClr val="tx1"/>
                </a:solidFill>
                <a:latin typeface="+mn-lt"/>
                <a:cs typeface="+mn-cs"/>
              </a:rPr>
              <a:t>Transformer Decoder (Same as Baseline)</a:t>
            </a:r>
          </a:p>
          <a:p>
            <a:r>
              <a:rPr lang="en-US" sz="1800" b="1" dirty="0">
                <a:solidFill>
                  <a:schemeClr val="tx1"/>
                </a:solidFill>
                <a:latin typeface="+mn-lt"/>
                <a:cs typeface="+mn-cs"/>
              </a:rPr>
              <a:t>	Model-1 memory = image + metadata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3BEAEF3-B51F-7B7D-392F-C7E06357AE5A}"/>
              </a:ext>
            </a:extLst>
          </p:cNvPr>
          <p:cNvSpPr txBox="1"/>
          <p:nvPr/>
        </p:nvSpPr>
        <p:spPr>
          <a:xfrm>
            <a:off x="5950424" y="1222373"/>
            <a:ext cx="8714095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 </a:t>
            </a:r>
          </a:p>
          <a:p>
            <a:r>
              <a:rPr lang="en-US" dirty="0"/>
              <a:t>Image encoded by MobileNetV2 → 1280-d vector</a:t>
            </a:r>
          </a:p>
          <a:p>
            <a:br>
              <a:rPr lang="en-US" dirty="0"/>
            </a:br>
            <a:r>
              <a:rPr lang="en-US" dirty="0"/>
              <a:t>Metadata encoded via embeddings → ~144-d vector</a:t>
            </a:r>
            <a:br>
              <a:rPr lang="en-US" dirty="0"/>
            </a:br>
            <a:endParaRPr lang="en-US" dirty="0"/>
          </a:p>
          <a:p>
            <a:r>
              <a:rPr lang="en-US" dirty="0"/>
              <a:t>Concatenate → 1424-d fusion input</a:t>
            </a:r>
            <a:br>
              <a:rPr lang="en-US" dirty="0"/>
            </a:br>
            <a:endParaRPr lang="en-US" dirty="0"/>
          </a:p>
          <a:p>
            <a:r>
              <a:rPr lang="en-US" dirty="0"/>
              <a:t>Linear fusion → 512-d fused memory</a:t>
            </a:r>
            <a:br>
              <a:rPr lang="en-US" dirty="0"/>
            </a:br>
            <a:endParaRPr lang="en-US" dirty="0"/>
          </a:p>
          <a:p>
            <a:r>
              <a:rPr lang="en-US" dirty="0"/>
              <a:t>Transformer decoder generates caption</a:t>
            </a:r>
            <a:br>
              <a:rPr lang="en-US" dirty="0"/>
            </a:br>
            <a:endParaRPr lang="en-US" dirty="0"/>
          </a:p>
          <a:p>
            <a:r>
              <a:rPr lang="en-US" dirty="0"/>
              <a:t>Cross-attention uses fused memory (not image only)</a:t>
            </a:r>
            <a:br>
              <a:rPr lang="en-US" dirty="0"/>
            </a:br>
            <a:endParaRPr lang="en-US" dirty="0"/>
          </a:p>
          <a:p>
            <a:r>
              <a:rPr lang="en-US" dirty="0"/>
              <a:t>Greatly improves semantic accuracy and category prediction</a:t>
            </a:r>
          </a:p>
        </p:txBody>
      </p:sp>
    </p:spTree>
    <p:extLst>
      <p:ext uri="{BB962C8B-B14F-4D97-AF65-F5344CB8AC3E}">
        <p14:creationId xmlns:p14="http://schemas.microsoft.com/office/powerpoint/2010/main" val="2448695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E9FCCDBE-DB0B-1BBC-F3B7-7630D396DE1D}"/>
              </a:ext>
            </a:extLst>
          </p:cNvPr>
          <p:cNvPicPr>
            <a:picLocks noGrp="1" noChangeAspect="1"/>
          </p:cNvPicPr>
          <p:nvPr>
            <p:ph idx="13"/>
          </p:nvPr>
        </p:nvPicPr>
        <p:blipFill>
          <a:blip r:embed="rId2"/>
          <a:stretch>
            <a:fillRect/>
          </a:stretch>
        </p:blipFill>
        <p:spPr>
          <a:xfrm>
            <a:off x="120851" y="1071149"/>
            <a:ext cx="3475038" cy="347503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FF4D201-6B92-31CC-FB68-09438F3BFA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1207" y="1139388"/>
            <a:ext cx="3733800" cy="37338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0F4884B-A23C-2E92-10FD-50EA5CD7FF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5534" y="957573"/>
            <a:ext cx="3915615" cy="3915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24345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298996D-AEBA-BE5C-BA04-A09774639F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933"/>
            <a:ext cx="10483326" cy="975070"/>
          </a:xfrm>
        </p:spPr>
        <p:txBody>
          <a:bodyPr/>
          <a:lstStyle/>
          <a:p>
            <a:r>
              <a:rPr lang="en-IN" dirty="0">
                <a:solidFill>
                  <a:schemeClr val="tx1"/>
                </a:solidFill>
              </a:rPr>
              <a:t>Model-1 Evaluation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90C7C12-BF6D-A08C-0558-5A56190FCA64}"/>
              </a:ext>
            </a:extLst>
          </p:cNvPr>
          <p:cNvSpPr>
            <a:spLocks noGrp="1" noChangeArrowheads="1"/>
          </p:cNvSpPr>
          <p:nvPr>
            <p:ph idx="13"/>
          </p:nvPr>
        </p:nvSpPr>
        <p:spPr bwMode="auto">
          <a:xfrm>
            <a:off x="0" y="4429280"/>
            <a:ext cx="10905565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indent="0" fontAlgn="base">
              <a:spcAft>
                <a:spcPct val="0"/>
              </a:spcAft>
              <a:buClrTx/>
              <a:buSzTx/>
              <a:tabLst/>
            </a:pPr>
            <a:r>
              <a:rPr lang="en-US" altLang="en-US" sz="2000" dirty="0">
                <a:solidFill>
                  <a:schemeClr val="tx1"/>
                </a:solidFill>
                <a:latin typeface="+mn-lt"/>
                <a:cs typeface="+mn-cs"/>
              </a:rPr>
              <a:t>Model-1 achieves higher BLEU and ROUGE scores by combining visual features with structured metadata, resulting in captions that are semantically precise, attribute-aware, and closer to ground-truth descriptions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A7D031B-7EA5-EB83-814C-90D140A2E36A}"/>
              </a:ext>
            </a:extLst>
          </p:cNvPr>
          <p:cNvSpPr txBox="1"/>
          <p:nvPr/>
        </p:nvSpPr>
        <p:spPr>
          <a:xfrm>
            <a:off x="59708" y="864317"/>
            <a:ext cx="7739987" cy="2350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dirty="0"/>
              <a:t>Evaluation Metrics Used - Generated Caption vs Ground Truth Caption</a:t>
            </a:r>
          </a:p>
          <a:p>
            <a:pPr>
              <a:lnSpc>
                <a:spcPct val="90000"/>
              </a:lnSpc>
              <a:spcBef>
                <a:spcPts val="1000"/>
              </a:spcBef>
              <a:buNone/>
            </a:pPr>
            <a:endParaRPr lang="en-US" dirty="0"/>
          </a:p>
          <a:p>
            <a: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dirty="0"/>
              <a:t>BLEU-1, BLEU-2, BLEU-3, BLEU-4</a:t>
            </a:r>
            <a:br>
              <a:rPr lang="en-US" dirty="0"/>
            </a:br>
            <a:r>
              <a:rPr lang="en-US" dirty="0"/>
              <a:t>→ Measures n-gram overlap between generated and ground-truth captions.</a:t>
            </a:r>
          </a:p>
          <a:p>
            <a:pPr>
              <a:lnSpc>
                <a:spcPct val="90000"/>
              </a:lnSpc>
              <a:spcBef>
                <a:spcPts val="1000"/>
              </a:spcBef>
            </a:pPr>
            <a:endParaRPr lang="en-US" dirty="0"/>
          </a:p>
          <a:p>
            <a: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dirty="0"/>
              <a:t>ROUGE-L</a:t>
            </a:r>
            <a:br>
              <a:rPr lang="en-US" dirty="0"/>
            </a:br>
            <a:r>
              <a:rPr lang="en-US" dirty="0"/>
              <a:t>→ Measures Longest Common Subsequence → structural similarity.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C20767D-EEE2-3BB4-4589-876C98FA63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5281228"/>
              </p:ext>
            </p:extLst>
          </p:nvPr>
        </p:nvGraphicFramePr>
        <p:xfrm>
          <a:off x="8010096" y="625481"/>
          <a:ext cx="3952166" cy="2029968"/>
        </p:xfrm>
        <a:graphic>
          <a:graphicData uri="http://schemas.openxmlformats.org/drawingml/2006/table">
            <a:tbl>
              <a:tblPr/>
              <a:tblGrid>
                <a:gridCol w="1976083">
                  <a:extLst>
                    <a:ext uri="{9D8B030D-6E8A-4147-A177-3AD203B41FA5}">
                      <a16:colId xmlns:a16="http://schemas.microsoft.com/office/drawing/2014/main" val="2918979686"/>
                    </a:ext>
                  </a:extLst>
                </a:gridCol>
                <a:gridCol w="1976083">
                  <a:extLst>
                    <a:ext uri="{9D8B030D-6E8A-4147-A177-3AD203B41FA5}">
                      <a16:colId xmlns:a16="http://schemas.microsoft.com/office/drawing/2014/main" val="269371482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1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lang="en-US"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Metric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1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lang="en-US"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Score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81729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1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lang="en-US"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BLEU-1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1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0.45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42465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1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BLEU-2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1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0.49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86588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1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lang="en-US"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BLEU-3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1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0.51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395858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1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lang="en-US"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BLEU-4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1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0.67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299619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1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lang="en-US"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ROUGE-L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1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0.63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503773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478963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5D67946E-F901-E85F-592C-64BA4BB8B361}"/>
              </a:ext>
            </a:extLst>
          </p:cNvPr>
          <p:cNvPicPr>
            <a:picLocks noGrp="1" noChangeAspect="1"/>
          </p:cNvPicPr>
          <p:nvPr>
            <p:ph idx="13"/>
          </p:nvPr>
        </p:nvPicPr>
        <p:blipFill>
          <a:blip r:embed="rId2"/>
          <a:stretch>
            <a:fillRect/>
          </a:stretch>
        </p:blipFill>
        <p:spPr>
          <a:xfrm>
            <a:off x="854337" y="1951131"/>
            <a:ext cx="5618181" cy="3475038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16B43865-EAA4-48F6-3509-7E54A6C8E8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tx1"/>
                </a:solidFill>
              </a:rPr>
              <a:t>Model The Limitation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" name="Rectangle 5">
            <a:extLst>
              <a:ext uri="{FF2B5EF4-FFF2-40B4-BE49-F238E27FC236}">
                <a16:creationId xmlns:a16="http://schemas.microsoft.com/office/drawing/2014/main" id="{1543358D-2862-A092-C5A8-873D462350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84894" y="1951131"/>
            <a:ext cx="4607860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Analysis: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appearance of &lt;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unk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&gt; (unknown tokens) proves the vocabulary is too limited.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misses the brand "Nike" and the "splatter" pattern entirely.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00254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CEA21ED-D085-3E87-D021-2F327C40EA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4337" y="321170"/>
            <a:ext cx="10483326" cy="975070"/>
          </a:xfrm>
        </p:spPr>
        <p:txBody>
          <a:bodyPr/>
          <a:lstStyle/>
          <a:p>
            <a:r>
              <a:rPr lang="en-IN" dirty="0">
                <a:solidFill>
                  <a:schemeClr val="tx1"/>
                </a:solidFill>
              </a:rPr>
              <a:t>Advanced Approach - Qwen2-VL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509E9B7-1DB2-8F28-FF19-EB2A87B383E9}"/>
              </a:ext>
            </a:extLst>
          </p:cNvPr>
          <p:cNvSpPr>
            <a:spLocks noGrp="1" noChangeArrowheads="1"/>
          </p:cNvSpPr>
          <p:nvPr>
            <p:ph idx="13"/>
          </p:nvPr>
        </p:nvSpPr>
        <p:spPr bwMode="auto">
          <a:xfrm>
            <a:off x="854337" y="1296240"/>
            <a:ext cx="10690412" cy="48936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Core Difference: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Unlike the baseline (fixed 224x224), Qwen2-VL utilizes 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Native Dynamic Resolution.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Visual Encoder: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Processes images at their native aspect ratio by converting them into variable sequences of patches.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C-Abstractor: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Uses 2x2 pooling to reduce visual token count by 4x while retaining spatial info.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LLM Backbone: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Compressed visual tokens are fed into the Qwen2 LLM (7B) to generate captions.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75502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28EC7C4-9B3C-1C16-55C6-CFA3D80451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707" b="1"/>
          <a:stretch>
            <a:fillRect/>
          </a:stretch>
        </p:blipFill>
        <p:spPr bwMode="auto">
          <a:xfrm>
            <a:off x="3475000" y="1825625"/>
            <a:ext cx="5241999" cy="3474508"/>
          </a:xfrm>
          <a:prstGeom prst="rect">
            <a:avLst/>
          </a:prstGeom>
          <a:noFill/>
        </p:spPr>
      </p:pic>
      <p:sp>
        <p:nvSpPr>
          <p:cNvPr id="11278" name="Title 2">
            <a:extLst>
              <a:ext uri="{FF2B5EF4-FFF2-40B4-BE49-F238E27FC236}">
                <a16:creationId xmlns:a16="http://schemas.microsoft.com/office/drawing/2014/main" id="{CCE0FD26-B2F8-8B01-0771-72F49B7428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4337" y="715617"/>
            <a:ext cx="10483326" cy="975070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QWEN2-VL Architecture</a:t>
            </a:r>
          </a:p>
        </p:txBody>
      </p:sp>
    </p:spTree>
    <p:extLst>
      <p:ext uri="{BB962C8B-B14F-4D97-AF65-F5344CB8AC3E}">
        <p14:creationId xmlns:p14="http://schemas.microsoft.com/office/powerpoint/2010/main" val="36927303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F6D8B85-6E7E-F854-FCEC-B82058C41F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4337" y="413214"/>
            <a:ext cx="10483326" cy="975070"/>
          </a:xfrm>
        </p:spPr>
        <p:txBody>
          <a:bodyPr/>
          <a:lstStyle/>
          <a:p>
            <a:r>
              <a:rPr lang="en-IN" dirty="0">
                <a:solidFill>
                  <a:schemeClr val="tx1"/>
                </a:solidFill>
              </a:rPr>
              <a:t>Key Innovation - M-ROPE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70A4383A-42EC-5768-5C79-A8D6A7738002}"/>
              </a:ext>
            </a:extLst>
          </p:cNvPr>
          <p:cNvSpPr>
            <a:spLocks noGrp="1" noChangeArrowheads="1"/>
          </p:cNvSpPr>
          <p:nvPr>
            <p:ph idx="13"/>
          </p:nvPr>
        </p:nvSpPr>
        <p:spPr bwMode="auto">
          <a:xfrm>
            <a:off x="854337" y="1289858"/>
            <a:ext cx="10483326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How it understands Space: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Standard models read left-to-right (1D).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Qwen2-VL uses 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M-ROPE (Multimodal Rotary Positional Embedding)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Math: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It decomposes position into 3D: Time, Height, and Width.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197518C-8394-6FD6-3385-381C0178F4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0683" y="3307114"/>
            <a:ext cx="6489700" cy="660400"/>
          </a:xfrm>
          <a:prstGeom prst="rect">
            <a:avLst/>
          </a:prstGeom>
        </p:spPr>
      </p:pic>
      <p:pic>
        <p:nvPicPr>
          <p:cNvPr id="9" name="Picture 4">
            <a:extLst>
              <a:ext uri="{FF2B5EF4-FFF2-40B4-BE49-F238E27FC236}">
                <a16:creationId xmlns:a16="http://schemas.microsoft.com/office/drawing/2014/main" id="{B8CDC22E-F1DB-8874-34D7-FEA0D5DE58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4733" y="4328360"/>
            <a:ext cx="5181600" cy="10315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9225083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8537CD05-FEC6-191B-E970-C62FC5C779E0}"/>
              </a:ext>
            </a:extLst>
          </p:cNvPr>
          <p:cNvPicPr>
            <a:picLocks noGrp="1" noChangeAspect="1"/>
          </p:cNvPicPr>
          <p:nvPr>
            <p:ph idx="13"/>
          </p:nvPr>
        </p:nvPicPr>
        <p:blipFill>
          <a:blip r:embed="rId2"/>
          <a:stretch>
            <a:fillRect/>
          </a:stretch>
        </p:blipFill>
        <p:spPr>
          <a:xfrm>
            <a:off x="854337" y="3706587"/>
            <a:ext cx="5366849" cy="1208314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38FEE94C-A488-86A9-59EA-26566F9DAD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tx1"/>
                </a:solidFill>
              </a:rPr>
              <a:t>Model Evaluation(Qualitative)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6F2EC2-C6CB-748D-BA05-67A39236E5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337" y="1846830"/>
            <a:ext cx="5366849" cy="185975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66B8C21-FBC4-CBE5-9101-4069C2C979DB}"/>
              </a:ext>
            </a:extLst>
          </p:cNvPr>
          <p:cNvSpPr txBox="1"/>
          <p:nvPr/>
        </p:nvSpPr>
        <p:spPr>
          <a:xfrm>
            <a:off x="6096000" y="1846830"/>
            <a:ext cx="609600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Analysis: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sz="24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marR="0" lvl="1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Accuracy: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It correctly identified "Nike" (Brand) and "Splatter" (Pattern).</a:t>
            </a:r>
          </a:p>
          <a:p>
            <a:pPr marL="800100" marR="0" lvl="1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marR="0" lvl="1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Confidence: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Confidence score jumped from 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6.67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(</a:t>
            </a:r>
            <a:r>
              <a:rPr lang="en-US" alt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Model-1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 to 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9.54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(Qwen).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50515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5989489-967B-B663-0826-E6596CEE11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232903"/>
            <a:ext cx="10483326" cy="975070"/>
          </a:xfrm>
        </p:spPr>
        <p:txBody>
          <a:bodyPr/>
          <a:lstStyle/>
          <a:p>
            <a:r>
              <a:rPr lang="en-IN" dirty="0">
                <a:solidFill>
                  <a:schemeClr val="tx1"/>
                </a:solidFill>
              </a:rPr>
              <a:t>Conclusion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23E8F6D0-D40D-920B-18FF-EEA3D083DC1F}"/>
              </a:ext>
            </a:extLst>
          </p:cNvPr>
          <p:cNvSpPr>
            <a:spLocks noGrp="1" noChangeArrowheads="1"/>
          </p:cNvSpPr>
          <p:nvPr>
            <p:ph idx="13"/>
          </p:nvPr>
        </p:nvSpPr>
        <p:spPr bwMode="auto">
          <a:xfrm>
            <a:off x="0" y="486364"/>
            <a:ext cx="10902043" cy="48936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Summary: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Baseline: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Good for general shapes ("Black Shirt") but fails on details.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Qwen2-VL: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Superior for e-commerce due to native resolution and OCR capabilities.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We built a complete multimodal image captioning system that integrates visual features and structured metadata. Our Model-1 architecture significantly improves semantic accuracy over the baseline and produces captions closer to human e-commerce catalogs. Through Qwen2-VL benchmarking and gradient-based explainability, we demonstrate the strengths, limitations, and interpretability of our system.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666330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3415D48-0783-E411-B00E-E079BAA58E71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pPr algn="ctr"/>
            <a:r>
              <a:rPr lang="en-US" sz="4000" b="1" dirty="0">
                <a:solidFill>
                  <a:schemeClr val="tx1"/>
                </a:solidFill>
              </a:rPr>
              <a:t>Thankyou !!</a:t>
            </a:r>
          </a:p>
        </p:txBody>
      </p:sp>
    </p:spTree>
    <p:extLst>
      <p:ext uri="{BB962C8B-B14F-4D97-AF65-F5344CB8AC3E}">
        <p14:creationId xmlns:p14="http://schemas.microsoft.com/office/powerpoint/2010/main" val="38925432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3597</TotalTime>
  <Words>1515</Words>
  <Application>Microsoft Office PowerPoint</Application>
  <PresentationFormat>Widescreen</PresentationFormat>
  <Paragraphs>198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Aptos</vt:lpstr>
      <vt:lpstr>Arial</vt:lpstr>
      <vt:lpstr>Times New Roman</vt:lpstr>
      <vt:lpstr>Office Theme</vt:lpstr>
      <vt:lpstr>2_Office Theme</vt:lpstr>
      <vt:lpstr>    AUTOMATED FASHION IMAGE  CAPTIONING SYSTEM  Guided By: Professor Aamir Jafari  Group 6: Amrutha Jayachandradhara Vishal Fulsundar </vt:lpstr>
      <vt:lpstr>PowerPoint Presentation</vt:lpstr>
      <vt:lpstr>Dataset Overview  </vt:lpstr>
      <vt:lpstr>Dataset Overview  </vt:lpstr>
      <vt:lpstr>Data Processing Pipeline (ETL)</vt:lpstr>
      <vt:lpstr>Data Processing Pipeline (ETL)</vt:lpstr>
      <vt:lpstr>Baseline Architecture (ResNet + Transformer)</vt:lpstr>
      <vt:lpstr>PowerPoint Presentation</vt:lpstr>
      <vt:lpstr>Baseline Architecture (ResNet + Transformer)</vt:lpstr>
      <vt:lpstr>ResNet + Transformer Architecture</vt:lpstr>
      <vt:lpstr>Model-1 Architecture (Image + Metadata Fusion Model)</vt:lpstr>
      <vt:lpstr>PowerPoint Presentation</vt:lpstr>
      <vt:lpstr>PowerPoint Presentation</vt:lpstr>
      <vt:lpstr>Model-1 Evaluation</vt:lpstr>
      <vt:lpstr>Model The Limitation</vt:lpstr>
      <vt:lpstr>Advanced Approach - Qwen2-VL</vt:lpstr>
      <vt:lpstr>QWEN2-VL Architecture</vt:lpstr>
      <vt:lpstr>Key Innovation - M-ROPE</vt:lpstr>
      <vt:lpstr>Model Evaluation(Qualitative)</vt:lpstr>
      <vt:lpstr>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Healy, Devin Marie</dc:creator>
  <cp:lastModifiedBy>vishal fulsundar</cp:lastModifiedBy>
  <cp:revision>31</cp:revision>
  <dcterms:created xsi:type="dcterms:W3CDTF">2020-03-10T16:22:03Z</dcterms:created>
  <dcterms:modified xsi:type="dcterms:W3CDTF">2025-12-06T08:41:40Z</dcterms:modified>
</cp:coreProperties>
</file>